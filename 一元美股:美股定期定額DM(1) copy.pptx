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6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7.xml" ContentType="application/vnd.openxmlformats-officedocument.themeOverr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8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9.xml" ContentType="application/vnd.openxmlformats-officedocument.themeOverr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20.xml" ContentType="application/vnd.openxmlformats-officedocument.themeOverr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1.xml" ContentType="application/vnd.openxmlformats-officedocument.themeOverr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2.xml" ContentType="application/vnd.openxmlformats-officedocument.themeOverr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3.xml" ContentType="application/vnd.openxmlformats-officedocument.themeOverr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4.xml" ContentType="application/vnd.openxmlformats-officedocument.themeOverr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25.xml" ContentType="application/vnd.openxmlformats-officedocument.themeOverr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26.xml" ContentType="application/vnd.openxmlformats-officedocument.themeOverr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27.xml" ContentType="application/vnd.openxmlformats-officedocument.themeOverrid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28.xml" ContentType="application/vnd.openxmlformats-officedocument.themeOverr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29.xml" ContentType="application/vnd.openxmlformats-officedocument.themeOverr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5" r:id="rId1"/>
  </p:sldMasterIdLst>
  <p:notesMasterIdLst>
    <p:notesMasterId r:id="rId55"/>
  </p:notesMasterIdLst>
  <p:handoutMasterIdLst>
    <p:handoutMasterId r:id="rId56"/>
  </p:handoutMasterIdLst>
  <p:sldIdLst>
    <p:sldId id="1932" r:id="rId2"/>
    <p:sldId id="1933" r:id="rId3"/>
    <p:sldId id="1934" r:id="rId4"/>
    <p:sldId id="1935" r:id="rId5"/>
    <p:sldId id="1936" r:id="rId6"/>
    <p:sldId id="1891" r:id="rId7"/>
    <p:sldId id="1937" r:id="rId8"/>
    <p:sldId id="1938" r:id="rId9"/>
    <p:sldId id="1939" r:id="rId10"/>
    <p:sldId id="1940" r:id="rId11"/>
    <p:sldId id="1941" r:id="rId12"/>
    <p:sldId id="1893" r:id="rId13"/>
    <p:sldId id="1894" r:id="rId14"/>
    <p:sldId id="1895" r:id="rId15"/>
    <p:sldId id="1896" r:id="rId16"/>
    <p:sldId id="1897" r:id="rId17"/>
    <p:sldId id="1898" r:id="rId18"/>
    <p:sldId id="1899" r:id="rId19"/>
    <p:sldId id="1900" r:id="rId20"/>
    <p:sldId id="2006" r:id="rId21"/>
    <p:sldId id="1892" r:id="rId22"/>
    <p:sldId id="2007" r:id="rId23"/>
    <p:sldId id="2008" r:id="rId24"/>
    <p:sldId id="2009" r:id="rId25"/>
    <p:sldId id="2010" r:id="rId26"/>
    <p:sldId id="2011" r:id="rId27"/>
    <p:sldId id="2012" r:id="rId28"/>
    <p:sldId id="2013" r:id="rId29"/>
    <p:sldId id="2014" r:id="rId30"/>
    <p:sldId id="2015" r:id="rId31"/>
    <p:sldId id="2016" r:id="rId32"/>
    <p:sldId id="2017" r:id="rId33"/>
    <p:sldId id="2018" r:id="rId34"/>
    <p:sldId id="2019" r:id="rId35"/>
    <p:sldId id="2020" r:id="rId36"/>
    <p:sldId id="2021" r:id="rId37"/>
    <p:sldId id="2022" r:id="rId38"/>
    <p:sldId id="2023" r:id="rId39"/>
    <p:sldId id="2035" r:id="rId40"/>
    <p:sldId id="2024" r:id="rId41"/>
    <p:sldId id="2025" r:id="rId42"/>
    <p:sldId id="2026" r:id="rId43"/>
    <p:sldId id="2027" r:id="rId44"/>
    <p:sldId id="2028" r:id="rId45"/>
    <p:sldId id="2029" r:id="rId46"/>
    <p:sldId id="2030" r:id="rId47"/>
    <p:sldId id="2031" r:id="rId48"/>
    <p:sldId id="2032" r:id="rId49"/>
    <p:sldId id="2033" r:id="rId50"/>
    <p:sldId id="2034" r:id="rId51"/>
    <p:sldId id="2036" r:id="rId52"/>
    <p:sldId id="2037" r:id="rId53"/>
    <p:sldId id="2038" r:id="rId54"/>
  </p:sldIdLst>
  <p:sldSz cx="9144000" cy="6858000" type="screen4x3"/>
  <p:notesSz cx="9866313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E9"/>
    <a:srgbClr val="0000FF"/>
    <a:srgbClr val="006600"/>
    <a:srgbClr val="CC00FF"/>
    <a:srgbClr val="FFFFCC"/>
    <a:srgbClr val="FC9A08"/>
    <a:srgbClr val="FFC000"/>
    <a:srgbClr val="FFFFFF"/>
    <a:srgbClr val="5F5F5F"/>
    <a:srgbClr val="E86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1404" autoAdjust="0"/>
  </p:normalViewPr>
  <p:slideViewPr>
    <p:cSldViewPr snapToGrid="0">
      <p:cViewPr varScale="1">
        <p:scale>
          <a:sx n="90" d="100"/>
          <a:sy n="90" d="100"/>
        </p:scale>
        <p:origin x="216" y="296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leilei15/Desktop/&#22283;&#38555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leilei15/Desktop/&#22283;&#38555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Users/leilei15/Desktop/&#22283;&#38555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/Users/leilei15/Desktop/&#22283;&#38555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/Users/leilei15/Desktop/&#22283;&#38555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/Users/leilei15/Desktop/&#22283;&#38555;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/Users/leilei15/Desktop/&#22283;&#38555;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/Users/leilei15/Desktop/&#22283;&#38555;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/Users/leilei15/Desktop/&#22283;&#38555;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/Users/leilei15/Desktop/&#22283;&#38555;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/Users/leilei15/Desktop/&#22283;&#38555;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/Users/leilei15/Desktop/&#22283;&#38555;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/Users/leilei15/Desktop/&#22283;&#38555;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/Users/leilei15/Desktop/&#22283;&#38555;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/Users/leilei15/Desktop/&#22283;&#38555;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/Users/leilei15/Desktop/&#22283;&#38555;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file:////Users/leilei15/Desktop/&#22283;&#38555;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file:////Users/leilei15/Desktop/&#22283;&#38555;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file:////Users/leilei15/Desktop/&#22283;&#38555;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oleObject" Target="file:////Users/leilei15/Desktop/&#22283;&#38555;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oleObject" Target="file:////Users/leilei15/Desktop/&#22283;&#38555;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oleObject" Target="file:////Users/leilei15/Desktop/&#22283;&#38555;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oleObject" Target="file:////Users/leilei15/Desktop/&#22283;&#38555;.xlsx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oleObject" Target="file:////Users/leilei15/Desktop/&#22283;&#38555;.xlsx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oleObject" Target="file:////Users/leilei15/Desktop/&#22283;&#38555;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oleObject" Target="file:////Users/leilei15/Desktop/&#22283;&#38555;.xlsx" TargetMode="Externa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oleObject" Target="file:////Users/leilei15/Desktop/&#22283;&#38555;.xlsx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oleObject" Target="file:////Users/leilei15/Desktop/&#22283;&#38555;.xlsx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oleObject" Target="file:////Users/leilei15/Desktop/&#22283;&#38555;.xlsx" TargetMode="Externa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eilei15/Desktop/&#22283;&#38555;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1A-7743-9E19-84E9B4644E87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1A-7743-9E19-84E9B4644E8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1A-7743-9E19-84E9B4644E87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11A-7743-9E19-84E9B4644E87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11A-7743-9E19-84E9B4644E8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11A-7743-9E19-84E9B4644E8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11A-7743-9E19-84E9B4644E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Sheet9!$A$25:$A$29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通訊服務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Sheet9!$B$25:$B$29</c:f>
              <c:numCache>
                <c:formatCode>0.00%</c:formatCode>
                <c:ptCount val="5"/>
                <c:pt idx="0">
                  <c:v>0.33560000000000001</c:v>
                </c:pt>
                <c:pt idx="1">
                  <c:v>0.1235</c:v>
                </c:pt>
                <c:pt idx="2">
                  <c:v>0.1048</c:v>
                </c:pt>
                <c:pt idx="3" formatCode="0%">
                  <c:v>0.1</c:v>
                </c:pt>
                <c:pt idx="4">
                  <c:v>9.4700000000000006E-2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1A-7743-9E19-84E9B4644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33-E54C-838A-88DCDC9814C7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33-E54C-838A-88DCDC9814C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33-E54C-838A-88DCDC9814C7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33-E54C-838A-88DCDC9814C7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733-E54C-838A-88DCDC9814C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33-E54C-838A-88DCDC9814C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33-E54C-838A-88DCDC981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Sheet9!$A$7:$A$11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通訊服務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Sheet9!$B$7:$B$11</c:f>
              <c:numCache>
                <c:formatCode>0.00%</c:formatCode>
                <c:ptCount val="5"/>
                <c:pt idx="0">
                  <c:v>0.3362</c:v>
                </c:pt>
                <c:pt idx="1">
                  <c:v>0.1221</c:v>
                </c:pt>
                <c:pt idx="2">
                  <c:v>0.105</c:v>
                </c:pt>
                <c:pt idx="3">
                  <c:v>0.1002</c:v>
                </c:pt>
                <c:pt idx="4">
                  <c:v>9.4799999999999995E-2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33-E54C-838A-88DCDC9814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A8-3D43-846D-0AA73E5C3119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A8-3D43-846D-0AA73E5C311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A8-3D43-846D-0AA73E5C3119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FA8-3D43-846D-0AA73E5C3119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FA8-3D43-846D-0AA73E5C311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FA8-3D43-846D-0AA73E5C311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FA8-3D43-846D-0AA73E5C311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Sheet9!$A$31:$A$35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醫療保健</c:v>
                </c:pt>
                <c:pt idx="3">
                  <c:v>非必需消費</c:v>
                </c:pt>
                <c:pt idx="4">
                  <c:v>工業</c:v>
                </c:pt>
              </c:strCache>
            </c:strRef>
          </c:cat>
          <c:val>
            <c:numRef>
              <c:f>Sheet9!$B$31:$B$35</c:f>
              <c:numCache>
                <c:formatCode>0.00%</c:formatCode>
                <c:ptCount val="5"/>
                <c:pt idx="0">
                  <c:v>0.31540000000000001</c:v>
                </c:pt>
                <c:pt idx="1">
                  <c:v>0.1249</c:v>
                </c:pt>
                <c:pt idx="2">
                  <c:v>0.1017</c:v>
                </c:pt>
                <c:pt idx="3">
                  <c:v>9.9500000000000005E-2</c:v>
                </c:pt>
                <c:pt idx="4">
                  <c:v>9.8900000000000002E-2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FA8-3D43-846D-0AA73E5C3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E-A449-B7CC-18037D8A1D1D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E-A449-B7CC-18037D8A1D1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E-A449-B7CC-18037D8A1D1D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E-A449-B7CC-18037D8A1D1D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BFE-A449-B7CC-18037D8A1D1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BFE-A449-B7CC-18037D8A1D1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ABFE-A449-B7CC-18037D8A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Sheet9!$A$37:$A$41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工業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Sheet9!$B$37:$B$41</c:f>
              <c:numCache>
                <c:formatCode>0.00%</c:formatCode>
                <c:ptCount val="5"/>
                <c:pt idx="0">
                  <c:v>0.25600000000000001</c:v>
                </c:pt>
                <c:pt idx="1">
                  <c:v>0.1641</c:v>
                </c:pt>
                <c:pt idx="2">
                  <c:v>0.1195</c:v>
                </c:pt>
                <c:pt idx="3">
                  <c:v>9.6799999999999997E-2</c:v>
                </c:pt>
                <c:pt idx="4">
                  <c:v>8.9499999999999996E-2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FE-A449-B7CC-18037D8A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F7-6B46-8FBF-B041353AA0A9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7F7-6B46-8FBF-B041353AA0A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7F7-6B46-8FBF-B041353AA0A9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7F7-6B46-8FBF-B041353AA0A9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7F7-6B46-8FBF-B041353AA0A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7F7-6B46-8FBF-B041353AA0A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7F7-6B46-8FBF-B041353AA0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Sheet9!$A$43:$A$47</c:f>
              <c:strCache>
                <c:ptCount val="5"/>
                <c:pt idx="0">
                  <c:v>科技</c:v>
                </c:pt>
                <c:pt idx="1">
                  <c:v>通訊服務</c:v>
                </c:pt>
                <c:pt idx="2">
                  <c:v>金融服務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Sheet9!$B$43:$B$47</c:f>
              <c:numCache>
                <c:formatCode>0.00%</c:formatCode>
                <c:ptCount val="5"/>
                <c:pt idx="0">
                  <c:v>0.48230000000000001</c:v>
                </c:pt>
                <c:pt idx="1">
                  <c:v>0.16839999999999999</c:v>
                </c:pt>
                <c:pt idx="2">
                  <c:v>9.8100000000000007E-2</c:v>
                </c:pt>
                <c:pt idx="3">
                  <c:v>9.4600000000000004E-2</c:v>
                </c:pt>
                <c:pt idx="4">
                  <c:v>6.8099999999999994E-2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F7-6B46-8FBF-B041353AA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5A-6444-A3B9-DA09B0F86B3E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5A-6444-A3B9-DA09B0F86B3E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5A-6444-A3B9-DA09B0F86B3E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5A-6444-A3B9-DA09B0F86B3E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D5A-6444-A3B9-DA09B0F86B3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D5A-6444-A3B9-DA09B0F86B3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D5A-6444-A3B9-DA09B0F86B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Sheet9!$A$1:$A$5</c:f>
              <c:strCache>
                <c:ptCount val="5"/>
                <c:pt idx="0">
                  <c:v>科技</c:v>
                </c:pt>
                <c:pt idx="1">
                  <c:v>通訊服務</c:v>
                </c:pt>
                <c:pt idx="2">
                  <c:v>非必需消費</c:v>
                </c:pt>
                <c:pt idx="3">
                  <c:v>必需消費</c:v>
                </c:pt>
                <c:pt idx="4">
                  <c:v>醫療保健</c:v>
                </c:pt>
              </c:strCache>
            </c:strRef>
          </c:cat>
          <c:val>
            <c:numRef>
              <c:f>Sheet9!$B$1:$B$5</c:f>
              <c:numCache>
                <c:formatCode>0.00%</c:formatCode>
                <c:ptCount val="5"/>
                <c:pt idx="0">
                  <c:v>0.50539999999999996</c:v>
                </c:pt>
                <c:pt idx="1">
                  <c:v>0.16059999999999999</c:v>
                </c:pt>
                <c:pt idx="2">
                  <c:v>0.12620000000000001</c:v>
                </c:pt>
                <c:pt idx="3">
                  <c:v>8.5800000000000001E-2</c:v>
                </c:pt>
                <c:pt idx="4">
                  <c:v>5.11E-2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5A-6444-A3B9-DA09B0F86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BD-C742-8179-F463391FD808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BD-C742-8179-F463391FD808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9BD-C742-8179-F463391FD808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9BD-C742-8179-F463391FD808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9BD-C742-8179-F463391FD80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9BD-C742-8179-F463391FD80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9BD-C742-8179-F463391FD8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Sheet9!$A$49:$A$53</c:f>
              <c:strCache>
                <c:ptCount val="5"/>
                <c:pt idx="0">
                  <c:v>金融服務</c:v>
                </c:pt>
                <c:pt idx="1">
                  <c:v>科技</c:v>
                </c:pt>
                <c:pt idx="2">
                  <c:v>工業</c:v>
                </c:pt>
                <c:pt idx="3">
                  <c:v>醫療保健</c:v>
                </c:pt>
                <c:pt idx="4">
                  <c:v>非必需消費</c:v>
                </c:pt>
              </c:strCache>
            </c:strRef>
          </c:cat>
          <c:val>
            <c:numRef>
              <c:f>Sheet9!$B$49:$B$53</c:f>
              <c:numCache>
                <c:formatCode>0.00%</c:formatCode>
                <c:ptCount val="5"/>
                <c:pt idx="0">
                  <c:v>0.27060000000000001</c:v>
                </c:pt>
                <c:pt idx="1">
                  <c:v>0.1734</c:v>
                </c:pt>
                <c:pt idx="2">
                  <c:v>0.1699</c:v>
                </c:pt>
                <c:pt idx="3">
                  <c:v>0.13109999999999999</c:v>
                </c:pt>
                <c:pt idx="4">
                  <c:v>0.1197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9BD-C742-8179-F463391FD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841-7447-B3A9-14CAE7032BC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841-7447-B3A9-14CAE7032BC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841-7447-B3A9-14CAE7032BC6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841-7447-B3A9-14CAE7032BC6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841-7447-B3A9-14CAE7032BC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841-7447-B3A9-14CAE7032BC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841-7447-B3A9-14CAE7032B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Sheet9!$A$55:$A$59</c:f>
              <c:strCache>
                <c:ptCount val="5"/>
                <c:pt idx="0">
                  <c:v>科技</c:v>
                </c:pt>
                <c:pt idx="1">
                  <c:v>通訊服務</c:v>
                </c:pt>
                <c:pt idx="2">
                  <c:v>非必需消費</c:v>
                </c:pt>
                <c:pt idx="3">
                  <c:v>醫療保健</c:v>
                </c:pt>
                <c:pt idx="4">
                  <c:v>工業</c:v>
                </c:pt>
              </c:strCache>
            </c:strRef>
          </c:cat>
          <c:val>
            <c:numRef>
              <c:f>Sheet9!$B$55:$B$59</c:f>
              <c:numCache>
                <c:formatCode>0.00%</c:formatCode>
                <c:ptCount val="5"/>
                <c:pt idx="0">
                  <c:v>0.52590000000000003</c:v>
                </c:pt>
                <c:pt idx="1">
                  <c:v>0.16489999999999999</c:v>
                </c:pt>
                <c:pt idx="2">
                  <c:v>0.12570000000000001</c:v>
                </c:pt>
                <c:pt idx="3">
                  <c:v>5.3600000000000002E-2</c:v>
                </c:pt>
                <c:pt idx="4">
                  <c:v>4.5900000000000003E-2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41-7447-B3A9-14CAE7032B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F6-264B-B7C6-2EA45EC438A2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1F6-264B-B7C6-2EA45EC438A2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1F6-264B-B7C6-2EA45EC438A2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1F6-264B-B7C6-2EA45EC438A2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1F6-264B-B7C6-2EA45EC438A2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1F6-264B-B7C6-2EA45EC438A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1F6-264B-B7C6-2EA45EC438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Sheet9!$A$61:$A$65</c:f>
              <c:strCache>
                <c:ptCount val="5"/>
                <c:pt idx="0">
                  <c:v>金融服務</c:v>
                </c:pt>
                <c:pt idx="1">
                  <c:v>醫療保健</c:v>
                </c:pt>
                <c:pt idx="2">
                  <c:v>工業</c:v>
                </c:pt>
                <c:pt idx="3">
                  <c:v>科技</c:v>
                </c:pt>
                <c:pt idx="4">
                  <c:v>必需消費</c:v>
                </c:pt>
              </c:strCache>
            </c:strRef>
          </c:cat>
          <c:val>
            <c:numRef>
              <c:f>Sheet9!$B$61:$B$65</c:f>
              <c:numCache>
                <c:formatCode>0.00%</c:formatCode>
                <c:ptCount val="5"/>
                <c:pt idx="0">
                  <c:v>0.22289999999999999</c:v>
                </c:pt>
                <c:pt idx="1">
                  <c:v>0.1535</c:v>
                </c:pt>
                <c:pt idx="2">
                  <c:v>0.13880000000000001</c:v>
                </c:pt>
                <c:pt idx="3">
                  <c:v>0.1106</c:v>
                </c:pt>
                <c:pt idx="4">
                  <c:v>9.6000000000000002E-2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F6-264B-B7C6-2EA45EC43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6A3-1F41-A8B4-6C5A22193DC7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6A3-1F41-A8B4-6C5A22193DC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6A3-1F41-A8B4-6C5A22193DC7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6A3-1F41-A8B4-6C5A22193DC7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6A3-1F41-A8B4-6C5A22193DC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6A3-1F41-A8B4-6C5A22193DC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6A3-1F41-A8B4-6C5A22193D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Sheet9!$A$67:$A$71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科技</c:v>
                </c:pt>
                <c:pt idx="3">
                  <c:v>醫療保健</c:v>
                </c:pt>
                <c:pt idx="4">
                  <c:v>非必需消費</c:v>
                </c:pt>
              </c:strCache>
            </c:strRef>
          </c:cat>
          <c:val>
            <c:numRef>
              <c:f>Sheet9!$B$67:$B$71</c:f>
              <c:numCache>
                <c:formatCode>0.00%</c:formatCode>
                <c:ptCount val="5"/>
                <c:pt idx="0">
                  <c:v>0.2321</c:v>
                </c:pt>
                <c:pt idx="1">
                  <c:v>0.18870000000000001</c:v>
                </c:pt>
                <c:pt idx="2">
                  <c:v>0.12039999999999999</c:v>
                </c:pt>
                <c:pt idx="3">
                  <c:v>8.9300000000000004E-2</c:v>
                </c:pt>
                <c:pt idx="4">
                  <c:v>7.9299999999999995E-2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6A3-1F41-A8B4-6C5A22193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EF-7441-AEE7-C417AF40C7FC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EF-7441-AEE7-C417AF40C7F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EF-7441-AEE7-C417AF40C7F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EF-7441-AEE7-C417AF40C7FC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2EF-7441-AEE7-C417AF40C7F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2EF-7441-AEE7-C417AF40C7F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2EF-7441-AEE7-C417AF40C7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Sheet9!$A$73:$A$77</c:f>
              <c:strCache>
                <c:ptCount val="5"/>
                <c:pt idx="0">
                  <c:v>醫療保健</c:v>
                </c:pt>
                <c:pt idx="1">
                  <c:v>工業</c:v>
                </c:pt>
                <c:pt idx="2">
                  <c:v>金融服務</c:v>
                </c:pt>
                <c:pt idx="3">
                  <c:v>科技</c:v>
                </c:pt>
                <c:pt idx="4">
                  <c:v>非必需消費</c:v>
                </c:pt>
              </c:strCache>
            </c:strRef>
          </c:cat>
          <c:val>
            <c:numRef>
              <c:f>Sheet9!$B$73:$B$77</c:f>
              <c:numCache>
                <c:formatCode>0.00%</c:formatCode>
                <c:ptCount val="5"/>
                <c:pt idx="0">
                  <c:v>0.1787</c:v>
                </c:pt>
                <c:pt idx="1">
                  <c:v>0.16589999999999999</c:v>
                </c:pt>
                <c:pt idx="2">
                  <c:v>0.15939999999999999</c:v>
                </c:pt>
                <c:pt idx="3">
                  <c:v>0.1512</c:v>
                </c:pt>
                <c:pt idx="4">
                  <c:v>8.7300000000000003E-2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EF-7441-AEE7-C417AF40C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D1-6445-A2A5-7F80DFCE91B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D1-6445-A2A5-7F80DFCE91B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D1-6445-A2A5-7F80DFCE91B6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3D1-6445-A2A5-7F80DFCE91B6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3D1-6445-A2A5-7F80DFCE91B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3D1-6445-A2A5-7F80DFCE91B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3D1-6445-A2A5-7F80DFCE91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Sheet9!$D$7:$D$11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通訊服務</c:v>
                </c:pt>
                <c:pt idx="3">
                  <c:v>非必需消費</c:v>
                </c:pt>
                <c:pt idx="4">
                  <c:v>醫療保健</c:v>
                </c:pt>
              </c:strCache>
            </c:strRef>
          </c:cat>
          <c:val>
            <c:numRef>
              <c:f>Sheet9!$E$7:$E$11</c:f>
              <c:numCache>
                <c:formatCode>0.00%</c:formatCode>
                <c:ptCount val="5"/>
                <c:pt idx="0">
                  <c:v>0.37580000000000002</c:v>
                </c:pt>
                <c:pt idx="1">
                  <c:v>0.1285</c:v>
                </c:pt>
                <c:pt idx="2">
                  <c:v>0.124</c:v>
                </c:pt>
                <c:pt idx="3">
                  <c:v>0.1226</c:v>
                </c:pt>
                <c:pt idx="4">
                  <c:v>0.1104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D1-6445-A2A5-7F80DFCE9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92-E648-BBBC-463C4FBE2AB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92-E648-BBBC-463C4FBE2AB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92-E648-BBBC-463C4FBE2AB1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C92-E648-BBBC-463C4FBE2AB1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C92-E648-BBBC-463C4FBE2AB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C92-E648-BBBC-463C4FBE2AB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C92-E648-BBBC-463C4FBE2A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Sheet9!$A$13:$A$17</c:f>
              <c:strCache>
                <c:ptCount val="5"/>
                <c:pt idx="0">
                  <c:v>工業</c:v>
                </c:pt>
                <c:pt idx="1">
                  <c:v>金融服務</c:v>
                </c:pt>
                <c:pt idx="2">
                  <c:v>科技</c:v>
                </c:pt>
                <c:pt idx="3">
                  <c:v>非必需消費</c:v>
                </c:pt>
                <c:pt idx="4">
                  <c:v>通訊服務</c:v>
                </c:pt>
              </c:strCache>
            </c:strRef>
          </c:cat>
          <c:val>
            <c:numRef>
              <c:f>Sheet9!$B$13:$B$17</c:f>
              <c:numCache>
                <c:formatCode>0.00%</c:formatCode>
                <c:ptCount val="5"/>
                <c:pt idx="0">
                  <c:v>0.26100000000000001</c:v>
                </c:pt>
                <c:pt idx="1">
                  <c:v>0.17749999999999999</c:v>
                </c:pt>
                <c:pt idx="2">
                  <c:v>0.16600000000000001</c:v>
                </c:pt>
                <c:pt idx="3">
                  <c:v>0.1298</c:v>
                </c:pt>
                <c:pt idx="4">
                  <c:v>7.7600000000000002E-2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92-E648-BBBC-463C4FBE2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5212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B32-2E4A-8BC7-7D498923A2AD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B32-2E4A-8BC7-7D498923A2A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B32-2E4A-8BC7-7D498923A2AD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B32-2E4A-8BC7-7D498923A2A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B32-2E4A-8BC7-7D498923A2A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B32-2E4A-8BC7-7D498923A2A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32-2E4A-8BC7-7D498923A2A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32-2E4A-8BC7-7D498923A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Sheet9!$A$19:$A$22</c:f>
              <c:strCache>
                <c:ptCount val="4"/>
                <c:pt idx="0">
                  <c:v>科技</c:v>
                </c:pt>
                <c:pt idx="1">
                  <c:v>通訊服務</c:v>
                </c:pt>
                <c:pt idx="2">
                  <c:v>金融服務</c:v>
                </c:pt>
                <c:pt idx="3">
                  <c:v>工業</c:v>
                </c:pt>
              </c:strCache>
            </c:strRef>
          </c:cat>
          <c:val>
            <c:numRef>
              <c:f>Sheet9!$B$19:$B$22</c:f>
              <c:numCache>
                <c:formatCode>0.00%</c:formatCode>
                <c:ptCount val="4"/>
                <c:pt idx="0">
                  <c:v>0.90229999999999999</c:v>
                </c:pt>
                <c:pt idx="1">
                  <c:v>8.2199999999999995E-2</c:v>
                </c:pt>
                <c:pt idx="2">
                  <c:v>1.4E-2</c:v>
                </c:pt>
                <c:pt idx="3">
                  <c:v>1.6000000000000001E-3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B32-2E4A-8BC7-7D498923A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07-1848-88E8-98643CC81A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Sheet9!$P$7</c:f>
              <c:strCache>
                <c:ptCount val="1"/>
                <c:pt idx="0">
                  <c:v>醫療保健</c:v>
                </c:pt>
              </c:strCache>
            </c:strRef>
          </c:cat>
          <c:val>
            <c:numRef>
              <c:f>Sheet9!$Q$7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07-1848-88E8-98643CC81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A0-744F-859B-A10DFE53D9A7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A0-744F-859B-A10DFE53D9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Sheet9!$A$81:$A$82</c:f>
              <c:strCache>
                <c:ptCount val="2"/>
                <c:pt idx="0">
                  <c:v>公用事業</c:v>
                </c:pt>
                <c:pt idx="1">
                  <c:v>醫療保健</c:v>
                </c:pt>
              </c:strCache>
            </c:strRef>
          </c:cat>
          <c:val>
            <c:numRef>
              <c:f>Sheet9!$B$81:$B$82</c:f>
              <c:numCache>
                <c:formatCode>0.00%</c:formatCode>
                <c:ptCount val="2"/>
                <c:pt idx="0">
                  <c:v>0.76829999999999998</c:v>
                </c:pt>
                <c:pt idx="1">
                  <c:v>0.23169999999999999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A0-744F-859B-A10DFE53D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DB-A24C-9D8F-35445BEDF26A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DB-A24C-9D8F-35445BEDF26A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DB-A24C-9D8F-35445BEDF26A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DB-A24C-9D8F-35445BEDF26A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DB-A24C-9D8F-35445BEDF26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6DB-A24C-9D8F-35445BEDF26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6DB-A24C-9D8F-35445BEDF2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Sheet9!$A$84:$A$88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醫療保健</c:v>
                </c:pt>
                <c:pt idx="3">
                  <c:v>工業</c:v>
                </c:pt>
                <c:pt idx="4">
                  <c:v>必需消費</c:v>
                </c:pt>
              </c:strCache>
            </c:strRef>
          </c:cat>
          <c:val>
            <c:numRef>
              <c:f>Sheet9!$B$84:$B$88</c:f>
              <c:numCache>
                <c:formatCode>0.00%</c:formatCode>
                <c:ptCount val="5"/>
                <c:pt idx="0">
                  <c:v>0.23980000000000001</c:v>
                </c:pt>
                <c:pt idx="1">
                  <c:v>0.20499999999999999</c:v>
                </c:pt>
                <c:pt idx="2">
                  <c:v>0.1764</c:v>
                </c:pt>
                <c:pt idx="3">
                  <c:v>0.1164</c:v>
                </c:pt>
                <c:pt idx="4">
                  <c:v>0.10440000000000001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6DB-A24C-9D8F-35445BEDF2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93-874E-B97E-B3F7C196F2D8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93-874E-B97E-B3F7C196F2D8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93-874E-B97E-B3F7C196F2D8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D93-874E-B97E-B3F7C196F2D8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D93-874E-B97E-B3F7C196F2D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D93-874E-B97E-B3F7C196F2D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D93-874E-B97E-B3F7C196F2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Sheet9!$A$90:$A$94</c:f>
              <c:strCache>
                <c:ptCount val="5"/>
                <c:pt idx="0">
                  <c:v>必需消費</c:v>
                </c:pt>
                <c:pt idx="1">
                  <c:v>醫療保健</c:v>
                </c:pt>
                <c:pt idx="2">
                  <c:v>能源</c:v>
                </c:pt>
                <c:pt idx="3">
                  <c:v>科技</c:v>
                </c:pt>
                <c:pt idx="4">
                  <c:v>金融服務</c:v>
                </c:pt>
              </c:strCache>
            </c:strRef>
          </c:cat>
          <c:val>
            <c:numRef>
              <c:f>Sheet9!$B$90:$B$94</c:f>
              <c:numCache>
                <c:formatCode>0.00%</c:formatCode>
                <c:ptCount val="5"/>
                <c:pt idx="0">
                  <c:v>0.19589999999999999</c:v>
                </c:pt>
                <c:pt idx="1">
                  <c:v>0.18609999999999999</c:v>
                </c:pt>
                <c:pt idx="2">
                  <c:v>0.1726</c:v>
                </c:pt>
                <c:pt idx="3">
                  <c:v>0.14430000000000001</c:v>
                </c:pt>
                <c:pt idx="4">
                  <c:v>8.8599999999999998E-2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D93-874E-B97E-B3F7C196F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CB-4245-AB57-2DA4DFCAD063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CB-4245-AB57-2DA4DFCAD06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CB-4245-AB57-2DA4DFCAD063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CB-4245-AB57-2DA4DFCAD0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Sheet9!$A$96:$A$98</c:f>
              <c:strCache>
                <c:ptCount val="3"/>
                <c:pt idx="0">
                  <c:v>金融服務</c:v>
                </c:pt>
                <c:pt idx="1">
                  <c:v>科技</c:v>
                </c:pt>
                <c:pt idx="2">
                  <c:v>工業</c:v>
                </c:pt>
              </c:strCache>
            </c:strRef>
          </c:cat>
          <c:val>
            <c:numRef>
              <c:f>Sheet9!$B$96:$B$98</c:f>
              <c:numCache>
                <c:formatCode>0.00%</c:formatCode>
                <c:ptCount val="3"/>
                <c:pt idx="0">
                  <c:v>0.98080000000000001</c:v>
                </c:pt>
                <c:pt idx="1">
                  <c:v>1.6899999999999998E-2</c:v>
                </c:pt>
                <c:pt idx="2">
                  <c:v>2.3E-3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CB-4245-AB57-2DA4DFCAD0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2C-8948-BD2C-BBDCE3E433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Sheet9!$A$100</c:f>
              <c:strCache>
                <c:ptCount val="1"/>
                <c:pt idx="0">
                  <c:v>公用事業</c:v>
                </c:pt>
              </c:strCache>
            </c:strRef>
          </c:cat>
          <c:val>
            <c:numRef>
              <c:f>Sheet9!$B$100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2C-8948-BD2C-BBDCE3E43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F5-E243-B25E-3119C2D4A00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Sheet9!$A$102</c:f>
              <c:strCache>
                <c:ptCount val="1"/>
                <c:pt idx="0">
                  <c:v>必需消費</c:v>
                </c:pt>
              </c:strCache>
            </c:strRef>
          </c:cat>
          <c:val>
            <c:numRef>
              <c:f>Sheet9!$B$102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F5-E243-B25E-3119C2D4A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39-3841-A450-8EB9AFEB752C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39-3841-A450-8EB9AFEB75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Sheet9!$A$104:$A$105</c:f>
              <c:strCache>
                <c:ptCount val="2"/>
                <c:pt idx="0">
                  <c:v>科技</c:v>
                </c:pt>
                <c:pt idx="1">
                  <c:v>通訊服務</c:v>
                </c:pt>
              </c:strCache>
            </c:strRef>
          </c:cat>
          <c:val>
            <c:numRef>
              <c:f>Sheet9!$B$104:$B$105</c:f>
              <c:numCache>
                <c:formatCode>0.00%</c:formatCode>
                <c:ptCount val="2"/>
                <c:pt idx="0">
                  <c:v>0.99039999999999995</c:v>
                </c:pt>
                <c:pt idx="1">
                  <c:v>9.5999999999999992E-3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39-3841-A450-8EB9AFEB7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30-A846-BFC3-01DA01E34F5B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30-A846-BFC3-01DA01E34F5B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30-A846-BFC3-01DA01E34F5B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930-A846-BFC3-01DA01E34F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Sheet9!$A$107:$A$109</c:f>
              <c:strCache>
                <c:ptCount val="3"/>
                <c:pt idx="0">
                  <c:v>非必需消費</c:v>
                </c:pt>
                <c:pt idx="1">
                  <c:v>科技</c:v>
                </c:pt>
                <c:pt idx="2">
                  <c:v>工業</c:v>
                </c:pt>
              </c:strCache>
            </c:strRef>
          </c:cat>
          <c:val>
            <c:numRef>
              <c:f>Sheet9!$B$107:$B$109</c:f>
              <c:numCache>
                <c:formatCode>0.00%</c:formatCode>
                <c:ptCount val="3"/>
                <c:pt idx="0">
                  <c:v>0.9889</c:v>
                </c:pt>
                <c:pt idx="1">
                  <c:v>9.4999999999999998E-3</c:v>
                </c:pt>
                <c:pt idx="2">
                  <c:v>1.6999999999999999E-3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930-A846-BFC3-01DA01E34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82-2B46-ADD1-E6D63C5EFD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Sheet9!$A$111</c:f>
              <c:strCache>
                <c:ptCount val="1"/>
                <c:pt idx="0">
                  <c:v>通訊服務</c:v>
                </c:pt>
              </c:strCache>
            </c:strRef>
          </c:cat>
          <c:val>
            <c:numRef>
              <c:f>Sheet9!$B$111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82-2B46-ADD1-E6D63C5EFD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97-1341-BDE1-DC3A8972F280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97-1341-BDE1-DC3A8972F280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97-1341-BDE1-DC3A8972F280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97-1341-BDE1-DC3A8972F2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Sheet9!$A$113:$A$115</c:f>
              <c:strCache>
                <c:ptCount val="3"/>
                <c:pt idx="0">
                  <c:v>工業</c:v>
                </c:pt>
                <c:pt idx="1">
                  <c:v>科技</c:v>
                </c:pt>
                <c:pt idx="2">
                  <c:v>非必需消費</c:v>
                </c:pt>
              </c:strCache>
            </c:strRef>
          </c:cat>
          <c:val>
            <c:numRef>
              <c:f>Sheet9!$B$113:$B$115</c:f>
              <c:numCache>
                <c:formatCode>0.00%</c:formatCode>
                <c:ptCount val="3"/>
                <c:pt idx="0">
                  <c:v>0.93430000000000002</c:v>
                </c:pt>
                <c:pt idx="1">
                  <c:v>6.2600000000000003E-2</c:v>
                </c:pt>
                <c:pt idx="2">
                  <c:v>3.0999999999999999E-3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97-1341-BDE1-DC3A8972F2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61-BA4F-A1D7-3FCD2F4DBD9F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61-BA4F-A1D7-3FCD2F4DBD9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61-BA4F-A1D7-3FCD2F4DBD9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861-BA4F-A1D7-3FCD2F4DBD9F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861-BA4F-A1D7-3FCD2F4DBD9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861-BA4F-A1D7-3FCD2F4DBD9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861-BA4F-A1D7-3FCD2F4DBD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Sheet9!$A$117:$A$121</c:f>
              <c:strCache>
                <c:ptCount val="5"/>
                <c:pt idx="0">
                  <c:v>醫療保健</c:v>
                </c:pt>
                <c:pt idx="1">
                  <c:v>科技</c:v>
                </c:pt>
                <c:pt idx="2">
                  <c:v>金融服務</c:v>
                </c:pt>
                <c:pt idx="3">
                  <c:v>非必需消費</c:v>
                </c:pt>
                <c:pt idx="4">
                  <c:v>通訊服務</c:v>
                </c:pt>
              </c:strCache>
            </c:strRef>
          </c:cat>
          <c:val>
            <c:numRef>
              <c:f>Sheet9!$B$117:$B$121</c:f>
              <c:numCache>
                <c:formatCode>0.00%</c:formatCode>
                <c:ptCount val="5"/>
                <c:pt idx="0">
                  <c:v>0.29099999999999998</c:v>
                </c:pt>
                <c:pt idx="1">
                  <c:v>0.25280000000000002</c:v>
                </c:pt>
                <c:pt idx="2">
                  <c:v>0.16420000000000001</c:v>
                </c:pt>
                <c:pt idx="3">
                  <c:v>0.1389</c:v>
                </c:pt>
                <c:pt idx="4">
                  <c:v>0.10150000000000001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861-BA4F-A1D7-3FCD2F4DB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52-B14C-A587-E7A670E0AFD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Sheet9!$A$123</c:f>
              <c:strCache>
                <c:ptCount val="1"/>
                <c:pt idx="0">
                  <c:v>醫療保健</c:v>
                </c:pt>
              </c:strCache>
            </c:strRef>
          </c:cat>
          <c:val>
            <c:numRef>
              <c:f>Sheet9!$B$123</c:f>
              <c:numCache>
                <c:formatCode>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52-B14C-A587-E7A670E0A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35-A84F-A845-FEF71FAAE5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Sheet9!$P$7</c:f>
              <c:strCache>
                <c:ptCount val="1"/>
                <c:pt idx="0">
                  <c:v>科技</c:v>
                </c:pt>
              </c:strCache>
            </c:strRef>
          </c:cat>
          <c:val>
            <c:numRef>
              <c:f>Sheet9!$Q$7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35-A84F-A845-FEF71FAAE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43E-2A43-98AD-9B6575844044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43E-2A43-98AD-9B6575844044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43E-2A43-98AD-9B657584404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3E-2A43-98AD-9B65758440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3E-2A43-98AD-9B657584404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3E-2A43-98AD-9B65758440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Sheet9!$A$125:$A$127</c:f>
              <c:strCache>
                <c:ptCount val="3"/>
                <c:pt idx="0">
                  <c:v>工業</c:v>
                </c:pt>
                <c:pt idx="1">
                  <c:v>非必需消費</c:v>
                </c:pt>
                <c:pt idx="2">
                  <c:v>科技</c:v>
                </c:pt>
              </c:strCache>
            </c:strRef>
          </c:cat>
          <c:val>
            <c:numRef>
              <c:f>Sheet9!$B$125:$B$127</c:f>
              <c:numCache>
                <c:formatCode>0.00%</c:formatCode>
                <c:ptCount val="3"/>
                <c:pt idx="0">
                  <c:v>0.89439999999999997</c:v>
                </c:pt>
                <c:pt idx="1">
                  <c:v>8.4199999999999997E-2</c:v>
                </c:pt>
                <c:pt idx="2">
                  <c:v>2.1399999999999999E-2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3E-2A43-98AD-9B6575844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04-2C45-8F1B-E36477E4882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804-2C45-8F1B-E36477E48826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04-2C45-8F1B-E36477E488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Sheet9!$A$129:$A$130</c:f>
              <c:strCache>
                <c:ptCount val="2"/>
                <c:pt idx="0">
                  <c:v>房地產</c:v>
                </c:pt>
                <c:pt idx="1">
                  <c:v>通訊服務</c:v>
                </c:pt>
              </c:strCache>
            </c:strRef>
          </c:cat>
          <c:val>
            <c:numRef>
              <c:f>Sheet9!$B$129:$B$130</c:f>
              <c:numCache>
                <c:formatCode>0.00%</c:formatCode>
                <c:ptCount val="2"/>
                <c:pt idx="0">
                  <c:v>0.99260000000000004</c:v>
                </c:pt>
                <c:pt idx="1">
                  <c:v>7.4000000000000003E-3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04-2C45-8F1B-E36477E488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962123"/>
            </a:solidFill>
          </c:spPr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F9-8D4A-998D-ED68461586BD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F9-8D4A-998D-ED68461586B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F9-8D4A-998D-ED68461586BD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F9-8D4A-998D-ED68461586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F9-8D4A-998D-ED68461586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Sheet9!$A$132:$A$134</c:f>
              <c:strCache>
                <c:ptCount val="3"/>
                <c:pt idx="0">
                  <c:v>房地產</c:v>
                </c:pt>
                <c:pt idx="1">
                  <c:v>通訊服務</c:v>
                </c:pt>
                <c:pt idx="2">
                  <c:v>能源</c:v>
                </c:pt>
              </c:strCache>
            </c:strRef>
          </c:cat>
          <c:val>
            <c:numRef>
              <c:f>Sheet9!$B$132:$B$134</c:f>
              <c:numCache>
                <c:formatCode>0.00%</c:formatCode>
                <c:ptCount val="3"/>
                <c:pt idx="0">
                  <c:v>0.99239999999999995</c:v>
                </c:pt>
                <c:pt idx="1">
                  <c:v>6.0000000000000001E-3</c:v>
                </c:pt>
                <c:pt idx="2">
                  <c:v>1.2999999999999999E-3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F9-8D4A-998D-ED6846158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EB-8F4E-AECF-73AB4153477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EB-8F4E-AECF-73AB4153477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EB-8F4E-AECF-73AB41534776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EB-8F4E-AECF-73AB4153477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DEB-8F4E-AECF-73AB4153477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DEB-8F4E-AECF-73AB415347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Sheet9!$A$136:$A$139</c:f>
              <c:strCache>
                <c:ptCount val="4"/>
                <c:pt idx="0">
                  <c:v>公用事業</c:v>
                </c:pt>
                <c:pt idx="1">
                  <c:v>科技</c:v>
                </c:pt>
                <c:pt idx="2">
                  <c:v>工業</c:v>
                </c:pt>
                <c:pt idx="3">
                  <c:v>基本材料</c:v>
                </c:pt>
              </c:strCache>
            </c:strRef>
          </c:cat>
          <c:val>
            <c:numRef>
              <c:f>Sheet9!$B$136:$B$139</c:f>
              <c:numCache>
                <c:formatCode>0.00%</c:formatCode>
                <c:ptCount val="4"/>
                <c:pt idx="0">
                  <c:v>0.45179999999999998</c:v>
                </c:pt>
                <c:pt idx="1">
                  <c:v>0.30669999999999997</c:v>
                </c:pt>
                <c:pt idx="2">
                  <c:v>0.22939999999999999</c:v>
                </c:pt>
                <c:pt idx="3">
                  <c:v>1.21E-2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EB-8F4E-AECF-73AB41534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D2-CF4D-B706-76045E5F7550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D2-CF4D-B706-76045E5F7550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D2-CF4D-B706-76045E5F7550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4D2-CF4D-B706-76045E5F7550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4D2-CF4D-B706-76045E5F755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D2-CF4D-B706-76045E5F755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4D2-CF4D-B706-76045E5F7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Sheet9!$A$141:$A$145</c:f>
              <c:strCache>
                <c:ptCount val="5"/>
                <c:pt idx="0">
                  <c:v>工業</c:v>
                </c:pt>
                <c:pt idx="1">
                  <c:v>科技</c:v>
                </c:pt>
                <c:pt idx="2">
                  <c:v>醫療保健</c:v>
                </c:pt>
                <c:pt idx="3">
                  <c:v>非必需消費</c:v>
                </c:pt>
                <c:pt idx="4">
                  <c:v>通訊服務</c:v>
                </c:pt>
              </c:strCache>
            </c:strRef>
          </c:cat>
          <c:val>
            <c:numRef>
              <c:f>Sheet9!$B$141:$B$145</c:f>
              <c:numCache>
                <c:formatCode>0.00%</c:formatCode>
                <c:ptCount val="5"/>
                <c:pt idx="0">
                  <c:v>0.47139999999999999</c:v>
                </c:pt>
                <c:pt idx="1">
                  <c:v>0.33539999999999998</c:v>
                </c:pt>
                <c:pt idx="2">
                  <c:v>0.1036</c:v>
                </c:pt>
                <c:pt idx="3">
                  <c:v>4.6600000000000003E-2</c:v>
                </c:pt>
                <c:pt idx="4">
                  <c:v>4.2799999999999998E-2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4D2-CF4D-B706-76045E5F7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C2-1741-91DF-EB2A35C605F4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C2-1741-91DF-EB2A35C605F4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C2-1741-91DF-EB2A35C605F4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4C2-1741-91DF-EB2A35C605F4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C2-1741-91DF-EB2A35C605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Sheet9!$A$147:$A$150</c:f>
              <c:strCache>
                <c:ptCount val="4"/>
                <c:pt idx="0">
                  <c:v>科技</c:v>
                </c:pt>
                <c:pt idx="1">
                  <c:v>通訊服務</c:v>
                </c:pt>
                <c:pt idx="2">
                  <c:v>工業</c:v>
                </c:pt>
                <c:pt idx="3">
                  <c:v>金融服務</c:v>
                </c:pt>
              </c:strCache>
            </c:strRef>
          </c:cat>
          <c:val>
            <c:numRef>
              <c:f>Sheet9!$B$147:$B$150</c:f>
              <c:numCache>
                <c:formatCode>0.00%</c:formatCode>
                <c:ptCount val="4"/>
                <c:pt idx="0">
                  <c:v>0.98519999999999996</c:v>
                </c:pt>
                <c:pt idx="1">
                  <c:v>5.1999999999999998E-3</c:v>
                </c:pt>
                <c:pt idx="2">
                  <c:v>4.8999999999999998E-3</c:v>
                </c:pt>
                <c:pt idx="3">
                  <c:v>4.4999999999999997E-3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C2-1741-91DF-EB2A35C605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B6-4442-96DA-1154D26776DE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B6-4442-96DA-1154D26776DE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B6-4442-96DA-1154D26776DE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4B6-4442-96DA-1154D26776D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4B6-4442-96DA-1154D26776D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4B6-4442-96DA-1154D26776D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4B6-4442-96DA-1154D26776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Sheet9!$A$152:$A$155</c:f>
              <c:strCache>
                <c:ptCount val="4"/>
                <c:pt idx="0">
                  <c:v>工業</c:v>
                </c:pt>
                <c:pt idx="1">
                  <c:v>基礎材料</c:v>
                </c:pt>
                <c:pt idx="2">
                  <c:v>公用事業</c:v>
                </c:pt>
                <c:pt idx="3">
                  <c:v>科技</c:v>
                </c:pt>
              </c:strCache>
            </c:strRef>
          </c:cat>
          <c:val>
            <c:numRef>
              <c:f>Sheet9!$B$152:$B$155</c:f>
              <c:numCache>
                <c:formatCode>0.00%</c:formatCode>
                <c:ptCount val="4"/>
                <c:pt idx="0">
                  <c:v>0.74019999999999997</c:v>
                </c:pt>
                <c:pt idx="1">
                  <c:v>0.19389999999999999</c:v>
                </c:pt>
                <c:pt idx="2">
                  <c:v>4.07E-2</c:v>
                </c:pt>
                <c:pt idx="3">
                  <c:v>2.52E-2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B6-4442-96DA-1154D2677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2A-094B-B154-44F8BB25794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2A-094B-B154-44F8BB25794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2A-094B-B154-44F8BB257941}"/>
              </c:ext>
            </c:extLst>
          </c:dPt>
          <c:dPt>
            <c:idx val="3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2A-094B-B154-44F8BB25794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D2A-094B-B154-44F8BB25794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D2A-094B-B154-44F8BB2579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Sheet9!$A$165:$A$168</c:f>
              <c:strCache>
                <c:ptCount val="4"/>
                <c:pt idx="0">
                  <c:v>通訊服務</c:v>
                </c:pt>
                <c:pt idx="1">
                  <c:v>非必需消費</c:v>
                </c:pt>
                <c:pt idx="2">
                  <c:v>醫療保健</c:v>
                </c:pt>
                <c:pt idx="3">
                  <c:v>必需消費</c:v>
                </c:pt>
              </c:strCache>
            </c:strRef>
          </c:cat>
          <c:val>
            <c:numRef>
              <c:f>Sheet9!$B$165:$B$168</c:f>
              <c:numCache>
                <c:formatCode>0.00%</c:formatCode>
                <c:ptCount val="4"/>
                <c:pt idx="0">
                  <c:v>0.40189999999999998</c:v>
                </c:pt>
                <c:pt idx="1">
                  <c:v>0.38190000000000002</c:v>
                </c:pt>
                <c:pt idx="2">
                  <c:v>7.2300000000000003E-2</c:v>
                </c:pt>
                <c:pt idx="3">
                  <c:v>4.36E-2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D2A-094B-B154-44F8BB257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68-0D4B-8E51-B7A90D62FC01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68-0D4B-8E51-B7A90D62FC01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68-0D4B-8E51-B7A90D62FC01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F68-0D4B-8E51-B7A90D62FC01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F68-0D4B-8E51-B7A90D62FC0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F68-0D4B-8E51-B7A90D62FC0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F68-0D4B-8E51-B7A90D62FC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Sheet9!$A$170:$A$174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醫療保健</c:v>
                </c:pt>
                <c:pt idx="3">
                  <c:v>必需消費</c:v>
                </c:pt>
                <c:pt idx="4">
                  <c:v>科技</c:v>
                </c:pt>
              </c:strCache>
            </c:strRef>
          </c:cat>
          <c:val>
            <c:numRef>
              <c:f>Sheet9!$B$170:$B$174</c:f>
              <c:numCache>
                <c:formatCode>0.00%</c:formatCode>
                <c:ptCount val="5"/>
                <c:pt idx="0">
                  <c:v>0.2301</c:v>
                </c:pt>
                <c:pt idx="1">
                  <c:v>0.19769999999999999</c:v>
                </c:pt>
                <c:pt idx="2">
                  <c:v>0.1323</c:v>
                </c:pt>
                <c:pt idx="3">
                  <c:v>8.1500000000000003E-2</c:v>
                </c:pt>
                <c:pt idx="4">
                  <c:v>7.8700000000000006E-2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68-0D4B-8E51-B7A90D62FC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F2-FD49-9A0D-EE1481F3C4D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F2-FD49-9A0D-EE1481F3C4D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F2-FD49-9A0D-EE1481F3C4D6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6F2-FD49-9A0D-EE1481F3C4D6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6F2-FD49-9A0D-EE1481F3C4D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6F2-FD49-9A0D-EE1481F3C4D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6F2-FD49-9A0D-EE1481F3C4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Sheet9!$A$176:$A$180</c:f>
              <c:strCache>
                <c:ptCount val="5"/>
                <c:pt idx="0">
                  <c:v>科技</c:v>
                </c:pt>
                <c:pt idx="1">
                  <c:v>金融服務</c:v>
                </c:pt>
                <c:pt idx="2">
                  <c:v>非必需消費</c:v>
                </c:pt>
                <c:pt idx="3">
                  <c:v>工業</c:v>
                </c:pt>
                <c:pt idx="4">
                  <c:v>基礎材料</c:v>
                </c:pt>
              </c:strCache>
            </c:strRef>
          </c:cat>
          <c:val>
            <c:numRef>
              <c:f>Sheet9!$B$176:$B$180</c:f>
              <c:numCache>
                <c:formatCode>0.00%</c:formatCode>
                <c:ptCount val="5"/>
                <c:pt idx="0">
                  <c:v>0.30359999999999998</c:v>
                </c:pt>
                <c:pt idx="1">
                  <c:v>0.20019999999999999</c:v>
                </c:pt>
                <c:pt idx="2">
                  <c:v>0.1033</c:v>
                </c:pt>
                <c:pt idx="3">
                  <c:v>8.5300000000000001E-2</c:v>
                </c:pt>
                <c:pt idx="4">
                  <c:v>7.4800000000000005E-2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6F2-FD49-9A0D-EE1481F3C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9E-224A-A024-B03EE6DC556D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9E-224A-A024-B03EE6DC556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9E-224A-A024-B03EE6DC556D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B9E-224A-A024-B03EE6DC556D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B9E-224A-A024-B03EE6DC556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9E-224A-A024-B03EE6DC556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B9E-224A-A024-B03EE6DC55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Sheet9!$A$182:$A$186</c:f>
              <c:strCache>
                <c:ptCount val="5"/>
                <c:pt idx="0">
                  <c:v>金融服務</c:v>
                </c:pt>
                <c:pt idx="1">
                  <c:v>工業</c:v>
                </c:pt>
                <c:pt idx="2">
                  <c:v>醫療保健</c:v>
                </c:pt>
                <c:pt idx="3">
                  <c:v>科技</c:v>
                </c:pt>
                <c:pt idx="4">
                  <c:v>非必需消費</c:v>
                </c:pt>
              </c:strCache>
            </c:strRef>
          </c:cat>
          <c:val>
            <c:numRef>
              <c:f>Sheet9!$B$182:$B$186</c:f>
              <c:numCache>
                <c:formatCode>0.00%</c:formatCode>
                <c:ptCount val="5"/>
                <c:pt idx="0">
                  <c:v>0.22589999999999999</c:v>
                </c:pt>
                <c:pt idx="1">
                  <c:v>0.2014</c:v>
                </c:pt>
                <c:pt idx="2">
                  <c:v>0.1048</c:v>
                </c:pt>
                <c:pt idx="3">
                  <c:v>9.1800000000000007E-2</c:v>
                </c:pt>
                <c:pt idx="4">
                  <c:v>8.5000000000000006E-2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9E-224A-A024-B03EE6DC55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EC-9C4F-A0BC-1A42AFCE3376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EC-9C4F-A0BC-1A42AFCE337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3EC-9C4F-A0BC-1A42AFCE3376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3EC-9C4F-A0BC-1A42AFCE3376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3EC-9C4F-A0BC-1A42AFCE337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3EC-9C4F-A0BC-1A42AFCE337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3EC-9C4F-A0BC-1A42AFCE33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Sheet9!$A$188:$A$192</c:f>
              <c:strCache>
                <c:ptCount val="5"/>
                <c:pt idx="0">
                  <c:v>金融服務</c:v>
                </c:pt>
                <c:pt idx="1">
                  <c:v>非必需消費</c:v>
                </c:pt>
                <c:pt idx="2">
                  <c:v>能源</c:v>
                </c:pt>
                <c:pt idx="3">
                  <c:v>工業</c:v>
                </c:pt>
                <c:pt idx="4">
                  <c:v>科技</c:v>
                </c:pt>
              </c:strCache>
            </c:strRef>
          </c:cat>
          <c:val>
            <c:numRef>
              <c:f>Sheet9!$B$188:$B$192</c:f>
              <c:numCache>
                <c:formatCode>0.00%</c:formatCode>
                <c:ptCount val="5"/>
                <c:pt idx="0">
                  <c:v>0.28660000000000002</c:v>
                </c:pt>
                <c:pt idx="1">
                  <c:v>0.1236</c:v>
                </c:pt>
                <c:pt idx="2">
                  <c:v>9.6100000000000005E-2</c:v>
                </c:pt>
                <c:pt idx="3">
                  <c:v>9.4899999999999998E-2</c:v>
                </c:pt>
                <c:pt idx="4">
                  <c:v>8.9499999999999996E-2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3EC-9C4F-A0BC-1A42AFCE3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F4-2243-B0F5-D889C300D842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F4-2243-B0F5-D889C300D842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F4-2243-B0F5-D889C300D842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F4-2243-B0F5-D889C300D842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F4-2243-B0F5-D889C300D842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AF4-2243-B0F5-D889C300D842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AF4-2243-B0F5-D889C300D8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Sheet9!$A$194:$A$198</c:f>
              <c:strCache>
                <c:ptCount val="5"/>
                <c:pt idx="0">
                  <c:v>非必需消費</c:v>
                </c:pt>
                <c:pt idx="1">
                  <c:v>通訊服務</c:v>
                </c:pt>
                <c:pt idx="2">
                  <c:v>金融服務</c:v>
                </c:pt>
                <c:pt idx="3">
                  <c:v>科技</c:v>
                </c:pt>
                <c:pt idx="4">
                  <c:v>基礎材料</c:v>
                </c:pt>
              </c:strCache>
            </c:strRef>
          </c:cat>
          <c:val>
            <c:numRef>
              <c:f>Sheet9!$B$194:$B$198</c:f>
              <c:numCache>
                <c:formatCode>0.00%</c:formatCode>
                <c:ptCount val="5"/>
                <c:pt idx="0">
                  <c:v>0.26450000000000001</c:v>
                </c:pt>
                <c:pt idx="1">
                  <c:v>0.19800000000000001</c:v>
                </c:pt>
                <c:pt idx="2">
                  <c:v>0.1898</c:v>
                </c:pt>
                <c:pt idx="3">
                  <c:v>8.7999999999999995E-2</c:v>
                </c:pt>
                <c:pt idx="4">
                  <c:v>5.5199999999999999E-2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F4-2243-B0F5-D889C300D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9621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2F3-5143-AE74-2AF720635117}"/>
              </c:ext>
            </c:extLst>
          </c:dPt>
          <c:dPt>
            <c:idx val="1"/>
            <c:bubble3D val="0"/>
            <c:spPr>
              <a:solidFill>
                <a:srgbClr val="C65B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2F3-5143-AE74-2AF72063511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2F3-5143-AE74-2AF720635117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2F3-5143-AE74-2AF720635117}"/>
              </c:ext>
            </c:extLst>
          </c:dPt>
          <c:dPt>
            <c:idx val="4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2F3-5143-AE74-2AF72063511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2F3-5143-AE74-2AF72063511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2F3-5143-AE74-2AF7206351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Sheet9!$A$200:$A$204</c:f>
              <c:strCache>
                <c:ptCount val="5"/>
                <c:pt idx="0">
                  <c:v>金融服務</c:v>
                </c:pt>
                <c:pt idx="1">
                  <c:v>能源</c:v>
                </c:pt>
                <c:pt idx="2">
                  <c:v>基礎材料</c:v>
                </c:pt>
                <c:pt idx="3">
                  <c:v>公用事業</c:v>
                </c:pt>
                <c:pt idx="4">
                  <c:v>工業</c:v>
                </c:pt>
              </c:strCache>
            </c:strRef>
          </c:cat>
          <c:val>
            <c:numRef>
              <c:f>Sheet9!$B$200:$B$204</c:f>
              <c:numCache>
                <c:formatCode>0.00%</c:formatCode>
                <c:ptCount val="5"/>
                <c:pt idx="0">
                  <c:v>0.32790000000000002</c:v>
                </c:pt>
                <c:pt idx="1">
                  <c:v>0.1807</c:v>
                </c:pt>
                <c:pt idx="2">
                  <c:v>0.13780000000000001</c:v>
                </c:pt>
                <c:pt idx="3">
                  <c:v>0.12189999999999999</c:v>
                </c:pt>
                <c:pt idx="4">
                  <c:v>0.11269999999999999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2F3-5143-AE74-2AF720635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49309-7AB3-4FA2-BDCA-DC522A50603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92AB6-3A85-44D1-988D-CED0E57535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789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85A2A-224C-4552-A43C-6963C414077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417888" y="841375"/>
            <a:ext cx="303053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A7907-3E45-4770-9493-15816AF92B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27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9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6060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  <p:sp>
        <p:nvSpPr>
          <p:cNvPr id="5" name="文字方塊 4">
            <a:hlinkClick r:id="" action="ppaction://noaction"/>
          </p:cNvPr>
          <p:cNvSpPr txBox="1"/>
          <p:nvPr userDrawn="1"/>
        </p:nvSpPr>
        <p:spPr>
          <a:xfrm>
            <a:off x="3512410" y="6676789"/>
            <a:ext cx="605790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本資料</a:t>
            </a:r>
            <a:r>
              <a:rPr lang="zh-TW" altLang="en-US" sz="900" b="1" spc="-20" baseline="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不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為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買賣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任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何證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券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或投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資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工具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之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請求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邀約。</a:t>
            </a:r>
            <a:r>
              <a:rPr lang="zh-TW" altLang="en-US" sz="900" b="1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內部教育訓練使用，嚴禁轉載或提供予客戶作為銷售資料。 </a:t>
            </a: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350891"/>
            <a:ext cx="131463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8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07"/>
            <a:ext cx="9144000" cy="68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89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2103380" y="133518"/>
            <a:ext cx="3132986" cy="63479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微軟正黑體"/>
                <a:ea typeface="微軟正黑體"/>
                <a:cs typeface="微軟正黑體"/>
              </a:defRPr>
            </a:lvl1pPr>
          </a:lstStyle>
          <a:p>
            <a:r>
              <a:rPr kumimoji="1" lang="zh-TW" altLang="en-US" dirty="0"/>
              <a:t>加入標題位置示意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3510" y="1174306"/>
            <a:ext cx="8055774" cy="5127699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/>
                <a:ea typeface="微軟正黑體"/>
                <a:cs typeface="微軟正黑體"/>
              </a:defRPr>
            </a:lvl1pPr>
            <a:lvl2pPr>
              <a:defRPr>
                <a:latin typeface="微軟正黑體"/>
                <a:ea typeface="微軟正黑體"/>
                <a:cs typeface="微軟正黑體"/>
              </a:defRPr>
            </a:lvl2pPr>
            <a:lvl3pPr>
              <a:defRPr>
                <a:latin typeface="微軟正黑體"/>
                <a:ea typeface="微軟正黑體"/>
                <a:cs typeface="微軟正黑體"/>
              </a:defRPr>
            </a:lvl3pPr>
            <a:lvl4pPr>
              <a:defRPr>
                <a:latin typeface="微軟正黑體"/>
                <a:ea typeface="微軟正黑體"/>
                <a:cs typeface="微軟正黑體"/>
              </a:defRPr>
            </a:lvl4pPr>
            <a:lvl5pPr>
              <a:defRPr>
                <a:latin typeface="微軟正黑體"/>
                <a:ea typeface="微軟正黑體"/>
                <a:cs typeface="微軟正黑體"/>
              </a:defRPr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</p:txBody>
      </p:sp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42" y="261382"/>
            <a:ext cx="1638000" cy="21910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" y="0"/>
            <a:ext cx="9139391" cy="6858000"/>
          </a:xfrm>
          <a:prstGeom prst="rect">
            <a:avLst/>
          </a:prstGeom>
        </p:spPr>
      </p:pic>
      <p:sp>
        <p:nvSpPr>
          <p:cNvPr id="7" name="文字方塊 6">
            <a:hlinkClick r:id="" action="ppaction://noaction"/>
          </p:cNvPr>
          <p:cNvSpPr txBox="1"/>
          <p:nvPr userDrawn="1"/>
        </p:nvSpPr>
        <p:spPr>
          <a:xfrm>
            <a:off x="3512410" y="6676789"/>
            <a:ext cx="605790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本資料</a:t>
            </a:r>
            <a:r>
              <a:rPr lang="zh-TW" altLang="en-US" sz="900" b="1" spc="-20" baseline="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不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為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買賣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任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何證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券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或投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資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工具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之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請求</a:t>
            </a:r>
            <a:r>
              <a:rPr lang="zh-TW" altLang="en-US" sz="900" b="1" spc="-1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或</a:t>
            </a:r>
            <a:r>
              <a:rPr lang="zh-TW" altLang="en-US" sz="900" b="1" spc="-20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</a:rPr>
              <a:t>邀約。</a:t>
            </a:r>
            <a:r>
              <a:rPr lang="zh-TW" altLang="en-US" sz="900" b="1" dirty="0">
                <a:solidFill>
                  <a:srgbClr val="45454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內部教育訓練使用，嚴禁轉載或提供予客戶作為銷售資料。 </a:t>
            </a:r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350891"/>
            <a:ext cx="1314633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6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4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9" r:id="rId3"/>
    <p:sldLayoutId id="2147483795" r:id="rId4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finance.yahoo.com/quote/VT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finance.yahoo.com/quote/VUG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finance.yahoo.com/quote/VEA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finance.yahoo.com/quote/IWM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finance.yahoo.com/quote/EWJ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finance.yahoo.com/quote/XL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finance.yahoo.com/quote/GLD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finance.yahoo.com/quote/LQD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finance.yahoo.com/quote/TSLL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finance.yahoo.com/quote/QQQ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finance.yahoo.com/quote/VT/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yahoo.com/quote/QQQ/" TargetMode="External"/><Relationship Id="rId2" Type="http://schemas.openxmlformats.org/officeDocument/2006/relationships/hyperlink" Target="https://finance.yahoo.com/quote/MINT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finance.yahoo.com/quote/PFFD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finance.yahoo.com/quote/VIG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finance.yahoo.com/quote/VEA/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finance.yahoo.com/quote/TIP/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finance.yahoo.com/quote/SMH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finance.yahoo.com/quote/VTV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finance.yahoo.com/quote/IYR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finance.yahoo.com/quote/VNQ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finance.yahoo.com/quote/ICLN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finance.yahoo.com/quote/BOTZ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finance.yahoo.com/quote/VGT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finance.yahoo.com/quote/PAVE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finance.yahoo.com/quote/KWEB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finance.yahoo.com/quote/VGK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finance.yahoo.com/quote/IEMG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finance.yahoo.com/quote/IEFA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finance.yahoo.com/quote/IEFA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finance.yahoo.com/quote/MCHI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finance.yahoo.com/quote/EWZ/" TargetMode="Externa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CEDC-D6CE-2C9A-BC45-86484859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38A2A34-02B9-D744-0827-4DB1DE523F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標普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ETF(SPY.US)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C630426-CD23-BF3E-6946-40F51028AE37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92071" cy="26167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87799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3503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575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7.56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6.64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37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2.99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搜尋引擎與雲端平台龍頭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659A7A7-F42D-DCFB-CCE8-C3B3D16BFA9B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13AF81-CA80-4860-4EE3-1A26B91E2138}"/>
              </a:ext>
            </a:extLst>
          </p:cNvPr>
          <p:cNvSpPr txBox="1"/>
          <p:nvPr/>
        </p:nvSpPr>
        <p:spPr>
          <a:xfrm>
            <a:off x="1475656" y="6538441"/>
            <a:ext cx="571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https://finance.yahoo.com/quote/SPY/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D784E9-91EC-E001-0D92-6C2EE687D099}"/>
              </a:ext>
            </a:extLst>
          </p:cNvPr>
          <p:cNvSpPr txBox="1"/>
          <p:nvPr/>
        </p:nvSpPr>
        <p:spPr>
          <a:xfrm>
            <a:off x="537220" y="1062248"/>
            <a:ext cx="3960001" cy="242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年，是目前全球最大的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，主要追蹤標準普爾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指數，持股數量為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檔，規模為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6071.49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億美元，配息頻率為季配息。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成分股涵蓋美國市值前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大企業，能直接反映美股大盤走勢，體現美國整體經濟成長情況，歷史悠久且交易量高。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投資領域以資訊科技占比最高，達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33.56%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。其次為金融服務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、通訊服務、非必需消費以及醫療保健。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0F5D255-C1E2-33BC-42E2-18C346148477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C8F689-738E-42D9-9194-274096253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92535"/>
            <a:ext cx="3959999" cy="2185200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FB369D8-407E-98E1-345E-FADBB243058A}"/>
              </a:ext>
            </a:extLst>
          </p:cNvPr>
          <p:cNvGraphicFramePr>
            <a:graphicFrameLocks/>
          </p:cNvGraphicFramePr>
          <p:nvPr/>
        </p:nvGraphicFramePr>
        <p:xfrm>
          <a:off x="4467444" y="1219940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6323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4076-30E1-90EA-67B6-2AA30753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CE86A23-ECB3-02DC-E1E4-EA8B781712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標普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ETF(VOO.US)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36634D8-C857-2659-7452-C55E413D6A70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134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6.67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3.64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搜尋引擎與雲端平台龍頭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0CBEBFD-1D04-2525-FCEC-A23A536C811E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37ECC74-942C-14FA-D82B-CD55B375FB97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https://finance.yahoo.com/quote/VOO/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FBC5525-5E05-6CF0-1D77-09EAA776857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2010/9/07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指數，它代表了美國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家最大規模上市公司的整體表現，被視為衡量美股「大盤」最權威的指標。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投資領域以資訊科技（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IT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）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占比最高，達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33.6%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。這意味著如果科技股大漲，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VOO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會表現亮眼；反之，若科技業面臨景氣逆風，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VOO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的波動也會相對顯著。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VOO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過去十年的歷史平均年化報酬率約為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14.78%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、近三年年化報酬率是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22.97%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7F221A-04EE-E1F6-B775-8EFA7BD6E6BE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B713314-2661-860D-328E-72303E1CA770}"/>
              </a:ext>
            </a:extLst>
          </p:cNvPr>
          <p:cNvGraphicFramePr>
            <a:graphicFrameLocks/>
          </p:cNvGraphicFramePr>
          <p:nvPr/>
        </p:nvGraphicFramePr>
        <p:xfrm>
          <a:off x="4707036" y="1227103"/>
          <a:ext cx="39409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67B5A1B-1F0E-7482-5EE1-C9B32FB4D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56" y="4182092"/>
            <a:ext cx="3960000" cy="21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1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7174-81BD-22B2-E74B-DE5B7882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9D26B129-6D13-4575-74BB-0CA9DA3B6D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先鋒整體市場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ETF(VTI.US)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B99BC4EF-D36E-9398-C385-7A31040C9024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134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6.41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5.93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搜尋引擎與雲端平台龍頭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B42ED08-0A53-9B85-3E5B-E6172DB6AF4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11F8394-04F2-D299-C2CD-9DE316088867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https://finance.yahoo.com/quote/VTI/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FDA10F8-27DE-1FE1-27BE-0959A2877B20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CRSP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美國整體市場指數，主要的成分股包含微軟、蘋果、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AMAZON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FB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Google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波克夏、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VISA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寶僑等知名大型股，資產規模大、目前持股數量高達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3,500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多檔，廣泛投資了美國股票市場，配息頻率為季配息。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VTI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持股大多是以大型股為主，分配在中型股和小型股的配置比較少。投資領域以資訊科技占比最高。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11D80C-A081-5592-ACA1-124B8201154D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AC77F-F144-8205-F3CA-F9035A1EF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30781"/>
            <a:ext cx="3960000" cy="2257724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00BA85F-9685-FA4B-9EF0-F37AF5F46B38}"/>
              </a:ext>
            </a:extLst>
          </p:cNvPr>
          <p:cNvGraphicFramePr>
            <a:graphicFrameLocks/>
          </p:cNvGraphicFramePr>
          <p:nvPr/>
        </p:nvGraphicFramePr>
        <p:xfrm>
          <a:off x="4436965" y="1219871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1531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7DAB-43A7-FC50-EA8F-E71F9AA8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EDD9BE16-D3E5-2F29-A652-F061BA62D5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先鋒全世界市場股票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E1AF48E4-CF0E-D21A-3C8E-27D7609A4F5E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134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3.97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3.56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搜尋引擎與雲端平台龍頭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9C51002-AB7F-8C5F-0DE7-220FC92AD68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5981CCA-F6F8-F7EF-F39A-8AF84830B5EC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ABECCD-F1A6-A5BA-4849-AA466FB73858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Global All Cap Index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指數，主要追蹤的是大盤股，特色是在數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個不同國家擁有數千隻個股，因此具有分散投資的效果，沒有任何一檔股票在總投資組合中佔有相當大的比例。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配息頻率為季配息。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投資市場除了美國佔一半以外，也包含已開發市場國家及新興市場國家如台灣、印度。基本上除了美國，各國家成分股都佔比都很小。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96C8171-9B6D-9758-6240-B693950EC487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F271C-B6D7-42B5-2867-8031EAF5F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62" y="4160879"/>
            <a:ext cx="3955385" cy="2227626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A355346-9CEA-CD2D-1F15-C1BF9A1645C7}"/>
              </a:ext>
            </a:extLst>
          </p:cNvPr>
          <p:cNvGraphicFramePr>
            <a:graphicFrameLocks/>
          </p:cNvGraphicFramePr>
          <p:nvPr/>
        </p:nvGraphicFramePr>
        <p:xfrm>
          <a:off x="4436965" y="1201088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1287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A5D1-F445-61CA-1681-311178E3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ED8FCE8-F7B1-F76E-E224-654D01E5D08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安碩標普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成長型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ETF(IVW.US)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BC4584C4-3152-0262-4A3C-ADE9C960FCB1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134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14.62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6.43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5.78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網通與客製化晶片供應商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BE1B08F-41B1-70F2-8F69-65AAA0FB1FDE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0E7012-5B23-EF22-ADEC-7CCFBD4261C1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https://finance.yahoo.com/quote/IVW/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A27737-A817-6271-C031-1FBEBCE1E5B3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 Growth Index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的股票型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採用完全複製法，目的是取得與追蹤指數相同的表現。編制的核心目的，是要在美國大型股當中，特別追蹤成長股的表現，目前成分股共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232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投資領域以資訊科技占比最重，達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。普遍上來說，成長性相對較強，多頭時表現較佳，波動性大。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A074A5C-0ECF-50D0-5A12-EFEEDA2EB548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36DE72-62E2-6F38-B0B1-7BF5CEDBC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56505"/>
            <a:ext cx="3981477" cy="22320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9A33365-86E1-E3FA-11EB-29651AE31FA1}"/>
              </a:ext>
            </a:extLst>
          </p:cNvPr>
          <p:cNvGraphicFramePr>
            <a:graphicFrameLocks/>
          </p:cNvGraphicFramePr>
          <p:nvPr/>
        </p:nvGraphicFramePr>
        <p:xfrm>
          <a:off x="4388086" y="1227106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8023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CEDC-D6CE-2C9A-BC45-86484859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38A2A34-02B9-D744-0827-4DB1DE523F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Invesco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納斯達克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ETF(QQQ.US)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C630426-CD23-BF3E-6946-40F51028AE37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92071" cy="26167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87799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3503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575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8.68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37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05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Tesla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3.80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電動車與能源解決方案龍頭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659A7A7-F42D-DCFB-CCE8-C3B3D16BFA9B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13AF81-CA80-4860-4EE3-1A26B91E2138}"/>
              </a:ext>
            </a:extLst>
          </p:cNvPr>
          <p:cNvSpPr txBox="1"/>
          <p:nvPr/>
        </p:nvSpPr>
        <p:spPr>
          <a:xfrm>
            <a:off x="1475656" y="6538441"/>
            <a:ext cx="571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https://finance.yahoo.com/quote/QQQ/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D784E9-91EC-E001-0D92-6C2EE687D099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1999/3/10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 主要追蹤納斯達克指數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指數，持股數量為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檔。規模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4,022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億美元，季配息。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成分股主要都是「美國科技股」，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QQQ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主要是從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NASDAQ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市場上挑選市值前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大的公司。過去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年年化複合成長率為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9.9%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投資領域以高度創新的科技、通訊等產業為主，適合喜歡追求科技創新的投資人，搭上科技類美股的高成長列車的同時，也能夠承受其高波動性。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0F5D255-C1E2-33BC-42E2-18C346148477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39502-672C-5F1D-BC35-636F60A36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72099"/>
            <a:ext cx="3981477" cy="2189045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9B603F9-ABD4-3EFF-0A91-49745A923E01}"/>
              </a:ext>
            </a:extLst>
          </p:cNvPr>
          <p:cNvGraphicFramePr>
            <a:graphicFrameLocks/>
          </p:cNvGraphicFramePr>
          <p:nvPr/>
        </p:nvGraphicFramePr>
        <p:xfrm>
          <a:off x="4572000" y="1252539"/>
          <a:ext cx="405653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8958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9D5D-24C1-D136-C33F-A27BB1CF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768F1EAA-28DA-F3F2-EB5A-E1A09800EA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道瓊工業平均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ETF(DIA.US)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94A417C-D7D2-ECF6-F574-2865BAB1B027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030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Goldman Sachs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11.21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全球投資銀行龍頭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Caterpillar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工程機械與重型設備龍頭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Amgen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全球生物製藥公司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Home Depot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居家修繕零售龍頭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A0B0B1D-844D-31FF-DC44-742053885494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66D9D5-1221-B376-7AAA-4C68CA4AD6AF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https://finance.yahoo.com/quote/DIA/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EE6AA89-9957-6E22-532D-B70FF50144FF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年，主要追蹤道瓊斯工業</a:t>
            </a:r>
            <a:r>
              <a:rPr lang="zh-TW" altLang="en-US" sz="140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平均指數</a:t>
            </a:r>
            <a:r>
              <a:rPr lang="zh-TW" altLang="en-GB" sz="140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旨在複製該指數的投資績效，透過持有道瓊斯工業平均指數中的成分股來達成其投資目標。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持股均為大型龍頭（高盛、微軟、開拓重工 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安進等）；獲利與股利穩定。前十大持股的權重高達約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，整體表現受少數公司影響很大。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E909F3-205C-AF3F-95EE-82C8B85D4BFC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682B7-6602-B53C-33D1-0CD51D6B9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58692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646BBB7-799F-3AC9-3582-55CAF010489B}"/>
              </a:ext>
            </a:extLst>
          </p:cNvPr>
          <p:cNvGraphicFramePr>
            <a:graphicFrameLocks/>
          </p:cNvGraphicFramePr>
          <p:nvPr/>
        </p:nvGraphicFramePr>
        <p:xfrm>
          <a:off x="4497221" y="1224464"/>
          <a:ext cx="415076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9720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4D28-5409-56CB-0172-0CDA2F85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877EEFAA-8176-6281-CBF9-3C79E29DF1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領航成長型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ETF(VUG.US)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D206F8A5-9245-A320-BF14-5E24B8EDFDAD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24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13.32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12.32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9.09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5.54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搜尋引擎與雲端平台龍頭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81E69A2-52AE-847A-180E-21AB48780C4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8675716-34CC-E0EE-270B-C90ED6480E70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https://finance.yahoo.com/quote/VUG/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BBF0EB3-2F38-E5F7-9F05-B1B70BA70DAA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CRSP US Large Cap Growth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聚焦美國大型成長股；持股檔數約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166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檔，資產規模約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2,000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億美元，配息頻率為季配息。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成分股以美國大型成長企業為主，涵蓋科技、通訊服務、非必需消費及金融等產業；具備高度成長導向特色，可作為掌握美國大型成長股趨勢的核心配置工具。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投資領域以科技比重最高；主要持股多為具長期競爭優勢與獲利能力的大型龍頭企業。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E5EBCB5-F2B0-7E4F-26CB-9E74703DC874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7BBB5F-1860-CAEC-F2C3-38778B031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56505"/>
            <a:ext cx="3960000" cy="22320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13D66C3-9EBA-F5E7-0578-B650AD34A82E}"/>
              </a:ext>
            </a:extLst>
          </p:cNvPr>
          <p:cNvGraphicFramePr>
            <a:graphicFrameLocks/>
          </p:cNvGraphicFramePr>
          <p:nvPr/>
        </p:nvGraphicFramePr>
        <p:xfrm>
          <a:off x="4388086" y="1222729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5240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0443-2823-80DE-BF13-24B42E88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872BC4B-8E34-4A17-5849-B50310EEE6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價值股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ETF(VTV.US)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13BEB62-8372-FAAF-7A42-8F7764AB4448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1208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830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608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Berkshire Hathaway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多元化控股公司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608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JP Morgan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3.03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全球大型銀行集團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682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Exxon Mobil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全球能源與石油巨頭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68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Johnson &amp; Johnson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2.41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多元醫療保健集團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3706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Walmart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17D1461-7892-AD06-BCB9-8DEE9483A49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9601EB9-F925-08C0-E828-141136D6342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https://finance.yahoo.com/quote/VTV/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B242098-5005-3B7F-FCF0-3D1AD97CC52E}"/>
              </a:ext>
            </a:extLst>
          </p:cNvPr>
          <p:cNvSpPr txBox="1"/>
          <p:nvPr/>
        </p:nvSpPr>
        <p:spPr>
          <a:xfrm>
            <a:off x="537220" y="1062248"/>
            <a:ext cx="3960001" cy="258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CRSP US Large Cap Value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聚焦美國大型價值股；持股分散於金融、醫療保健、工業及消費等成熟產業，適合作為美股價值型核心配置工具。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多為具穩定獲利、成熟商業模式與相對合理估值的大型企業，投資風格較偏向防禦與股利收入，投資領域以金融服務占比最高，其次為醫療保健、工業、科技及消費防禦；主要持股多為具長期現金流、品牌優勢與市場地位的美國大型龍頭企業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8DDBCA6-5AB7-06B9-D8EF-74B76D89E29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3F030-1EA7-3747-7B24-774E64221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44371"/>
            <a:ext cx="3960000" cy="22320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E65D3FC-59E3-76E1-5D4F-FE74F9B1D2A3}"/>
              </a:ext>
            </a:extLst>
          </p:cNvPr>
          <p:cNvGraphicFramePr>
            <a:graphicFrameLocks/>
          </p:cNvGraphicFramePr>
          <p:nvPr/>
        </p:nvGraphicFramePr>
        <p:xfrm>
          <a:off x="4388086" y="1205932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5537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D5E2-B347-CDEC-9A83-F249E96C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74F0A53-BB58-4132-B6F5-A8C28749DE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領航富時已開發市場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ETF(VEA.US)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85E8B315-2C2E-FCC6-9BA3-F124B25E1E11}"/>
              </a:ext>
            </a:extLst>
          </p:cNvPr>
          <p:cNvGraphicFramePr>
            <a:graphicFrameLocks/>
          </p:cNvGraphicFramePr>
          <p:nvPr/>
        </p:nvGraphicFramePr>
        <p:xfrm>
          <a:off x="4755915" y="3745034"/>
          <a:ext cx="3832715" cy="26164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40134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689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Samsung Electronics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1.87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全球消費電子與記憶體大廠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9059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SK </a:t>
                      </a: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hynix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高頻寬記憶體與</a:t>
                      </a:r>
                      <a:endParaRPr lang="en-GB" altLang="zh-TW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DRAM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90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Novartis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AstraZeneca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全球生物製藥公司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98069D3-8DD4-CF8B-0B26-6E612C4A302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7E247C-1C1E-0970-661E-74852F661036}"/>
              </a:ext>
            </a:extLst>
          </p:cNvPr>
          <p:cNvSpPr txBox="1"/>
          <p:nvPr/>
        </p:nvSpPr>
        <p:spPr>
          <a:xfrm>
            <a:off x="1475656" y="6538441"/>
            <a:ext cx="5545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https://finance.yahoo.com/quote/VEA/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0CF2D3-3D74-1BDD-45C1-DDCBD914B5F6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Developed All Cap ex US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投資範圍涵蓋美國以外的已開發市場，包括歐洲、日本、加拿大及亞太成熟市場。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成分股涵蓋大型、中型及小型企業，提供美股以外的國際市場配置。投資地區以日本、英國、加拿大、法國及瑞士等成熟市場為主；產業分布則以金融、工業、消費、醫療保健及科技為主要配置。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6036E9-7642-F41A-FE84-AA2E335DCF8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63BDC-572B-C15A-BDF6-FFD34CB7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8146"/>
            <a:ext cx="3960000" cy="2192997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CE669B-A9EC-FFB9-8C6C-BD6512180459}"/>
              </a:ext>
            </a:extLst>
          </p:cNvPr>
          <p:cNvGraphicFramePr>
            <a:graphicFrameLocks/>
          </p:cNvGraphicFramePr>
          <p:nvPr/>
        </p:nvGraphicFramePr>
        <p:xfrm>
          <a:off x="4388086" y="1203516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8968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5A4D-0222-F061-C6C4-A1F0791E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496700B-EA59-B105-A9B4-F6DB76E9A1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安碩羅素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2000ETF(IWM.US)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0518E9CB-20AD-1E26-78A1-F5262533BE31}"/>
              </a:ext>
            </a:extLst>
          </p:cNvPr>
          <p:cNvGraphicFramePr>
            <a:graphicFrameLocks/>
          </p:cNvGraphicFramePr>
          <p:nvPr/>
        </p:nvGraphicFramePr>
        <p:xfrm>
          <a:off x="4755915" y="3745035"/>
          <a:ext cx="3832715" cy="261742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4015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654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Bloom Energy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1.01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燃料電池與分散式電力供應商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338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Coeur Mining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0.65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貴金屬礦業公司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338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Fabrinet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0.64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光通訊精密製造服務商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6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Nextpower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0.60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再生能源與公用事業龍頭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338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EchoStar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0.54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衛星通訊與電信服務商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5EF086B-565E-CB58-AFAC-7E4ADC43C96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ADC038-A261-B7A8-0D93-793F31FAE209}"/>
              </a:ext>
            </a:extLst>
          </p:cNvPr>
          <p:cNvSpPr txBox="1"/>
          <p:nvPr/>
        </p:nvSpPr>
        <p:spPr>
          <a:xfrm>
            <a:off x="1475655" y="6538441"/>
            <a:ext cx="5895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https://finance.yahoo.com/quote/IWM/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44D44E8-5C96-47E2-C72F-878B6306D63C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旗下美國小型股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Russell 2000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提供約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2,000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家美國小型上市公司曝險，常被視為觀察美國內需景氣與小型股表現的重要指標。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成分股以美國本土小型企業為主。投資特色在於能補足大型股部位以外的美股配置，參與小型企業受惠於利率下行、融資環境改善及美國內需復甦的成長機會，適合作為分散化與景氣循環布局工具。</a:t>
            </a:r>
            <a:endParaRPr lang="en-US" altLang="zh-TW" sz="1400" u="sng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A06CB1-6621-1D3C-00F6-2E982479CC1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41A5B-8EFB-7213-849D-BA58694DF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5944"/>
            <a:ext cx="3960000" cy="218520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3A5B85-C882-11E9-BA3D-A3BF3DA550D0}"/>
              </a:ext>
            </a:extLst>
          </p:cNvPr>
          <p:cNvGraphicFramePr>
            <a:graphicFrameLocks/>
          </p:cNvGraphicFramePr>
          <p:nvPr/>
        </p:nvGraphicFramePr>
        <p:xfrm>
          <a:off x="4287520" y="1216565"/>
          <a:ext cx="436046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13319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0443-2823-80DE-BF13-24B42E88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872BC4B-8E34-4A17-5849-B50310EEE6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 ESG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美股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ETF(ESGV.US)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13BEB62-8372-FAAF-7A42-8F7764AB4448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1208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830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608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8.22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608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7.36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682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5.53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68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3706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知名記憶體商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17D1461-7892-AD06-BCB9-8DEE9483A49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9601EB9-F925-08C0-E828-141136D6342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https://finance.yahoo.com/quote/ESGV/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B242098-5005-3B7F-FCF0-3D1AD97CC52E}"/>
              </a:ext>
            </a:extLst>
          </p:cNvPr>
          <p:cNvSpPr txBox="1"/>
          <p:nvPr/>
        </p:nvSpPr>
        <p:spPr>
          <a:xfrm>
            <a:off x="537220" y="1062248"/>
            <a:ext cx="3960001" cy="241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年的美國股票型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，以追求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US All Cap Choice Index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的績效表現為目標。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主要依據環境保護、社會責任和公司治理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(ESG)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標準進行篩選，投資於美國大中小型公司股票。季配息。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特色是在保有美股廣泛分散性的同時，納入永續投資理念，適合希望兼顧市場報酬與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ESG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原則的投資人。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8DDBCA6-5AB7-06B9-D8EF-74B76D89E29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101AC-CB8E-1DEC-0270-85B173C2C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5944"/>
            <a:ext cx="3960000" cy="21852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EA836D7-DADC-A84D-8D69-5BC53296ADBC}"/>
              </a:ext>
            </a:extLst>
          </p:cNvPr>
          <p:cNvGraphicFramePr>
            <a:graphicFrameLocks/>
          </p:cNvGraphicFramePr>
          <p:nvPr/>
        </p:nvGraphicFramePr>
        <p:xfrm>
          <a:off x="4707035" y="1260970"/>
          <a:ext cx="39409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1226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D5E2-B347-CDEC-9A83-F249E96C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74F0A53-BB58-4132-B6F5-A8C28749DE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 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日本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ETF(EWJ.US)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85E8B315-2C2E-FCC6-9BA3-F124B25E1E11}"/>
              </a:ext>
            </a:extLst>
          </p:cNvPr>
          <p:cNvGraphicFramePr>
            <a:graphicFrameLocks/>
          </p:cNvGraphicFramePr>
          <p:nvPr/>
        </p:nvGraphicFramePr>
        <p:xfrm>
          <a:off x="4755915" y="3745034"/>
          <a:ext cx="3832715" cy="26161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4121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3987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Toyota Motor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4.10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全球汽車製造龍頭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3987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MUFG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日本大型金融控股集團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5038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Hitachi Ltd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2.80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工業設備與數位解決方案商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5038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Sony Group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2.70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消費電子與娛樂內容集團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3987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SMFG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日本大型金融服務集團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98069D3-8DD4-CF8B-0B26-6E612C4A302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7E247C-1C1E-0970-661E-74852F661036}"/>
              </a:ext>
            </a:extLst>
          </p:cNvPr>
          <p:cNvSpPr txBox="1"/>
          <p:nvPr/>
        </p:nvSpPr>
        <p:spPr>
          <a:xfrm>
            <a:off x="1475656" y="6538441"/>
            <a:ext cx="5545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https://finance.yahoo.com/quote/EWJ/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0CF2D3-3D74-1BDD-45C1-DDCBD914B5F6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1996/03/12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Japan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投資日本大型與中型股票，是布局日本股市最具代表性的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之一。區域配置高度集中於日本。半年配息。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分散於日本各產業大企業，前十大持股包括豐田汽車、三菱日聯金融集團、索尼等投資領域。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EWJ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沒有匯率對沖機制。這意味著日元貶值時，以美元計算的績效可能受到匯率損害，反之則可受益。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6036E9-7642-F41A-FE84-AA2E335DCF8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537A5-14EB-F771-0024-C50591467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5944"/>
            <a:ext cx="3960000" cy="21852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9F6FE6F-4CBB-3604-BE1B-B1B650ED17C4}"/>
              </a:ext>
            </a:extLst>
          </p:cNvPr>
          <p:cNvGraphicFramePr>
            <a:graphicFrameLocks/>
          </p:cNvGraphicFramePr>
          <p:nvPr/>
        </p:nvGraphicFramePr>
        <p:xfrm>
          <a:off x="4607155" y="1237266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773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5A4D-0222-F061-C6C4-A1F0791E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496700B-EA59-B105-A9B4-F6DB76E9A1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科技軟體股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ETF(IGV.US)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0518E9CB-20AD-1E26-78A1-F5262533BE31}"/>
              </a:ext>
            </a:extLst>
          </p:cNvPr>
          <p:cNvGraphicFramePr>
            <a:graphicFrameLocks/>
          </p:cNvGraphicFramePr>
          <p:nvPr/>
        </p:nvGraphicFramePr>
        <p:xfrm>
          <a:off x="4755915" y="3745035"/>
          <a:ext cx="3832715" cy="26946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4086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14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Palantir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8.82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政府與企業數據分析平台商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14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8.36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14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Oracle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8.24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企業資料庫與雲端服務商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14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Salesforce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CRM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與企業應用軟體龍頭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414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Palo Alto Network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網路安全解決方案龍頭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95EF086B-565E-CB58-AFAC-7E4ADC43C96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ADC038-A261-B7A8-0D93-793F31FAE209}"/>
              </a:ext>
            </a:extLst>
          </p:cNvPr>
          <p:cNvSpPr txBox="1"/>
          <p:nvPr/>
        </p:nvSpPr>
        <p:spPr>
          <a:xfrm>
            <a:off x="1475655" y="6538441"/>
            <a:ext cx="5895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https://finance.yahoo.com/quote/IGV/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44D44E8-5C96-47E2-C72F-878B6306D63C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2001/07/10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North American Expanded Technology Software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聚焦北美軟體產業，並涵蓋部分互動媒體與數位娛樂公司。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重倉高成長股： 前十大持股佔總投資額約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60%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，包括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Palantir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Microsoft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Oracle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Salesforce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Palo Alto Network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投資主題集中在企業軟體、雲端、資安與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SaaS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適合看好軟體產業與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應用擴張的投資人。</a:t>
            </a:r>
            <a:endParaRPr lang="en-US" altLang="zh-TW" sz="1400" u="sng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A06CB1-6621-1D3C-00F6-2E982479CC1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41A5B-8EFB-7213-849D-BA58694DF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5944"/>
            <a:ext cx="3960000" cy="2185200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7E45950-2ACF-76A0-DCC8-8092A2AA4C08}"/>
              </a:ext>
            </a:extLst>
          </p:cNvPr>
          <p:cNvGraphicFramePr>
            <a:graphicFrameLocks/>
          </p:cNvGraphicFramePr>
          <p:nvPr/>
        </p:nvGraphicFramePr>
        <p:xfrm>
          <a:off x="4257479" y="1240216"/>
          <a:ext cx="439050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947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27AC-6217-5B30-CB39-8B01DA2A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03BB132-D93A-7DFC-041C-E4628AF87A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健康護理類股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ETF(XLV.US)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5F028EB4-A24C-C84C-CED5-D016920277D3}"/>
              </a:ext>
            </a:extLst>
          </p:cNvPr>
          <p:cNvGraphicFramePr>
            <a:graphicFrameLocks/>
          </p:cNvGraphicFramePr>
          <p:nvPr/>
        </p:nvGraphicFramePr>
        <p:xfrm>
          <a:off x="4755915" y="3785132"/>
          <a:ext cx="3832715" cy="258718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959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 Lilly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13.72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3830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J&amp;J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11.09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多元醫療保健集團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839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AbbVie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生物製藥公司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839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Merck &amp; Co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5.62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全球藥品與疫苗大廠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4602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UNH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健康保險與醫療服務龍頭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095EE5A-8497-C043-24BD-CAA48ECC29C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CD0B3B2-5636-F5B5-C1CA-3571F115DB20}"/>
              </a:ext>
            </a:extLst>
          </p:cNvPr>
          <p:cNvSpPr txBox="1"/>
          <p:nvPr/>
        </p:nvSpPr>
        <p:spPr>
          <a:xfrm>
            <a:off x="1475655" y="6538441"/>
            <a:ext cx="5465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57AEC1F-9D8B-8782-E538-17B768DDD594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年，旨在追蹤標普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醫療保健指數（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Health Care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）。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它集中投資於美國大型醫藥、生物技術、醫療設備及服務公司。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醫療保健具有防禦性高、現金流穩定、受經濟週期影響較小等特點。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投資公司包括聯合健康保險、輝瑞、禮來公司、默克藥廠、亞培等等企業，成分股並不多僅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檔，持股相對集中，前十大持股佔約一半的權重。</a:t>
            </a:r>
            <a:endParaRPr lang="en-US" altLang="zh-TW" sz="1400" u="sng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9984F34-6A35-B721-F161-4BC86AB829D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8582AE-B0D0-7886-8E2B-AC2CC5B97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5944"/>
            <a:ext cx="3959999" cy="21852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DA1BC93-2CE5-91F3-34D8-A01F2988AEB0}"/>
              </a:ext>
            </a:extLst>
          </p:cNvPr>
          <p:cNvGraphicFramePr>
            <a:graphicFrameLocks/>
          </p:cNvGraphicFramePr>
          <p:nvPr/>
        </p:nvGraphicFramePr>
        <p:xfrm>
          <a:off x="4497221" y="1231966"/>
          <a:ext cx="415076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63892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CF57-0D2B-3B85-560A-9ED14F6CE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D66615A-DE47-1B5B-349F-2D24F37701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黃金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GLD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B914BD-13F9-F575-ABAB-C0359CCC744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適合投資人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214D04A-4C7F-D3B7-308F-EAA600A7EC5F}"/>
              </a:ext>
            </a:extLst>
          </p:cNvPr>
          <p:cNvSpPr txBox="1"/>
          <p:nvPr/>
        </p:nvSpPr>
        <p:spPr>
          <a:xfrm>
            <a:off x="1475656" y="6538441"/>
            <a:ext cx="5545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https://finance.yahoo.com/quote/GLD/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6DCC28-F1FB-B3F5-75D5-D7B07588090E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2004/11/18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，旨在追蹤黃金現貨價格的表現。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GLD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透過持有實物黃金，為投資者提供一種便捷的方式參與黃金市場，而無需直接持有實體黃金，適合希望增加避險資產的投資者。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年管理費率為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0.4%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GLD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不進行定期配息，投資者的主要收益來自於基金價格的變動。這與許多其他資產類型不同，因此適合主要關注資本增值而非現金流的投資者。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0BC7AF2-CEDA-5912-09EB-48ACA883B5D5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3BDA2-3379-5EB4-02A7-DCF45B343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2099"/>
            <a:ext cx="3960000" cy="21852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9751C6EC-3572-1ECE-BC1A-D4F85FEEC855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32715" cy="2334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484362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36495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+ 8.39%</a:t>
                      </a:r>
                      <a:endParaRPr lang="zh-TW" altLang="en-US" sz="16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+ 36.12%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7623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+ 32.60%</a:t>
                      </a:r>
                      <a:endParaRPr lang="zh-TW" altLang="en-US" sz="1600" b="1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C3871A0-510C-27BB-6AFB-97E94A5E37D8}"/>
              </a:ext>
            </a:extLst>
          </p:cNvPr>
          <p:cNvSpPr/>
          <p:nvPr/>
        </p:nvSpPr>
        <p:spPr>
          <a:xfrm>
            <a:off x="4707036" y="156964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1. 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尋求避險資產的投資者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C9892E-C35C-496C-E175-35C1933AB635}"/>
              </a:ext>
            </a:extLst>
          </p:cNvPr>
          <p:cNvSpPr/>
          <p:nvPr/>
        </p:nvSpPr>
        <p:spPr>
          <a:xfrm>
            <a:off x="6019664" y="2195988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預期黃金價格上漲的投資者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9E021B-8CAD-EA98-CEA6-94091808AB86}"/>
              </a:ext>
            </a:extLst>
          </p:cNvPr>
          <p:cNvSpPr/>
          <p:nvPr/>
        </p:nvSpPr>
        <p:spPr>
          <a:xfrm>
            <a:off x="7332291" y="152565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3.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希望分散風險的投資者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912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54E9-62E0-90D6-ABDC-9B333B4C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B3FB86C-2DA6-6365-F3F6-2F80AB73DE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白銀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SLV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BB689E-CED3-B709-6AD6-2F7C513334D6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適合投資人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4C3109C-E2C3-1470-917A-8807DDF78061}"/>
              </a:ext>
            </a:extLst>
          </p:cNvPr>
          <p:cNvSpPr txBox="1"/>
          <p:nvPr/>
        </p:nvSpPr>
        <p:spPr>
          <a:xfrm>
            <a:off x="1475655" y="6538441"/>
            <a:ext cx="5481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https://finance.yahoo.com/quote/SLV/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A9E5E13-902D-571D-330A-80DE13A5C544}"/>
              </a:ext>
            </a:extLst>
          </p:cNvPr>
          <p:cNvSpPr txBox="1"/>
          <p:nvPr/>
        </p:nvSpPr>
        <p:spPr>
          <a:xfrm>
            <a:off x="537220" y="1062248"/>
            <a:ext cx="3960001" cy="217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2006/04/21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，主要追蹤白銀現貨價格，基金持有實體白銀，提供投資人不需自行保管白銀也能參與銀價波動的工具。相較黃金，白銀兼具貴金屬與工業用途，波動通常也更高。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其優點為流動性極佳，適合波段操作，但管理費用為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0.50%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，相比部分封閉式基金稍高。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</a:pP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903F0ED-D31D-ED86-B1CE-22F145B6595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234EC-BE61-403A-9F50-B3C9F5CE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2099"/>
            <a:ext cx="3960000" cy="21852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DEBCF9C3-9620-ED71-53D3-2D269365965D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32715" cy="2334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484362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36495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+ 6.32%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+ 129.91%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7623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+ 43.91%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E661A4BD-C423-9A71-405C-8C9A43E28B89}"/>
              </a:ext>
            </a:extLst>
          </p:cNvPr>
          <p:cNvSpPr/>
          <p:nvPr/>
        </p:nvSpPr>
        <p:spPr>
          <a:xfrm>
            <a:off x="4707036" y="156964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1. 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想配置貴金屬的投資者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CAC8EF-0180-9E08-B05D-5275D2C8371A}"/>
              </a:ext>
            </a:extLst>
          </p:cNvPr>
          <p:cNvSpPr/>
          <p:nvPr/>
        </p:nvSpPr>
        <p:spPr>
          <a:xfrm>
            <a:off x="6019664" y="2195988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預期白銀價格上漲的投資者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541D2B-62B7-314B-6BEF-340F1C850CFF}"/>
              </a:ext>
            </a:extLst>
          </p:cNvPr>
          <p:cNvSpPr/>
          <p:nvPr/>
        </p:nvSpPr>
        <p:spPr>
          <a:xfrm>
            <a:off x="7332291" y="152565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3.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能接受較高波動的投資者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53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D93F-4D91-73E0-E9F5-C940825A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0767E8A-71FE-8688-F5F3-596376CF9FA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8373682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iShares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3000" b="1" dirty="0" err="1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iBoxx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投資等級公司債券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LQD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378173-6E41-F5C4-09FD-6CEDCC662D2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8F403CE-ACDD-8C69-08F3-2822BFF18D0C}"/>
              </a:ext>
            </a:extLst>
          </p:cNvPr>
          <p:cNvSpPr txBox="1"/>
          <p:nvPr/>
        </p:nvSpPr>
        <p:spPr>
          <a:xfrm>
            <a:off x="1475656" y="6538441"/>
            <a:ext cx="5974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https://finance.yahoo.com/quote/LQD/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240430F-F1E8-63C6-039A-80ACE702B4BF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2002/07/22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Markit 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iBoxx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USD Liquid Investment Grade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投資標的是美元計價的美國投資等級公司債。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特色是可一次布局大量高品質企業債，兼具收益與相對穩定性，適合偏好固定收益配置的投資人。月配息。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雖然大多數的債券都為投資等級公司債，但大部分的信評多集中於投資等級信評邊緣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BBB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至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之間，而非高信評的債券。因而在景氣較不佳時，恐波動比較大。</a:t>
            </a:r>
            <a:endParaRPr lang="en-US" altLang="zh-TW" sz="1400" u="sng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B88C99-D12D-C22E-2497-B28072C059DC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EA25A-5BD1-4ED7-2302-49EE09E8D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75944"/>
            <a:ext cx="3960000" cy="21852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616AEF83-E601-14F7-0054-A3C2A69538C9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32715" cy="2334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484362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36495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+ 0.60%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+ 8.59%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7623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+ 4.69%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6A8A340-FB1F-ED10-F9A2-6093196118DB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信評BBB以上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9851D4-1D62-D745-8156-0089BA8617D7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13.27年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EA7ECC-C441-5C5D-AE38-52A4A2C430CB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8.55年</a:t>
            </a:r>
          </a:p>
        </p:txBody>
      </p:sp>
    </p:spTree>
    <p:extLst>
      <p:ext uri="{BB962C8B-B14F-4D97-AF65-F5344CB8AC3E}">
        <p14:creationId xmlns:p14="http://schemas.microsoft.com/office/powerpoint/2010/main" val="4238175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CB8D-6D70-4F77-549F-959C0A0A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D8B1AE48-5367-74B6-67D0-7AB45B20A5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 err="1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Direxion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每日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倍做多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TSLA 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TSLL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C0126C-48B3-3AB5-DF7B-5796AACFFE3A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相關風險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72447AE-2ED8-5CBE-2412-54E486C3BB0B}"/>
              </a:ext>
            </a:extLst>
          </p:cNvPr>
          <p:cNvSpPr txBox="1"/>
          <p:nvPr/>
        </p:nvSpPr>
        <p:spPr>
          <a:xfrm>
            <a:off x="1475656" y="6538441"/>
            <a:ext cx="60224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https://finance.yahoo.com/quote/TSLL/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2026/4/22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0C87368-8322-E8CA-069B-786CC57DA801}"/>
              </a:ext>
            </a:extLst>
          </p:cNvPr>
          <p:cNvSpPr txBox="1"/>
          <p:nvPr/>
        </p:nvSpPr>
        <p:spPr>
          <a:xfrm>
            <a:off x="537220" y="1062248"/>
            <a:ext cx="3960001" cy="266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2022/08/09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目標提供特斯拉單日股價變動的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倍報酬。這類產品屬於單一個股槓桿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波動極高，較適合短線交易或戰術操作，不適合作為長期持有型資產配置工具。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這意味著若特斯拉單日上漲</a:t>
            </a:r>
            <a:r>
              <a:rPr lang="en-US" altLang="zh-TW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1%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en-GB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TSLL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理論上會上漲</a:t>
            </a:r>
            <a:r>
              <a:rPr lang="en-US" altLang="zh-TW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2%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。適合極度看好特斯拉短線表現的投資者，但需承擔放大後的虧損風險。 </a:t>
            </a:r>
            <a:endParaRPr lang="en-GB" altLang="zh-TW" sz="1400" dirty="0"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由於「波動率損耗」，長期持有這種單日槓桿</a:t>
            </a:r>
            <a:r>
              <a:rPr lang="en-GB" altLang="zh-TW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可能會導致追蹤誤差，即使特斯拉股價漲回來，</a:t>
            </a:r>
            <a:r>
              <a:rPr lang="en-GB" altLang="zh-TW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TSLL</a:t>
            </a:r>
            <a:r>
              <a:rPr lang="zh-TW" altLang="en-US" sz="1400" dirty="0"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的淨值可能仍在低檔。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590012D-BFFE-C920-0BD5-B5B2E8A6F20D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38419-DEED-B8AE-116E-AF1BA331C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5944"/>
            <a:ext cx="3960000" cy="2185200"/>
          </a:xfrm>
          <a:prstGeom prst="rect">
            <a:avLst/>
          </a:prstGeom>
        </p:spPr>
      </p:pic>
      <p:graphicFrame>
        <p:nvGraphicFramePr>
          <p:cNvPr id="2" name="內容版面配置區 4">
            <a:extLst>
              <a:ext uri="{FF2B5EF4-FFF2-40B4-BE49-F238E27FC236}">
                <a16:creationId xmlns:a16="http://schemas.microsoft.com/office/drawing/2014/main" id="{4E3310DD-5E9F-F171-7567-FC68A5A4449F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32715" cy="2334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484362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36495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- 32.14%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034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+ 100.11%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7623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+ 18.05%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1230C028-CDC4-9A0C-8BA0-8DE23AAF1DC6}"/>
              </a:ext>
            </a:extLst>
          </p:cNvPr>
          <p:cNvSpPr/>
          <p:nvPr/>
        </p:nvSpPr>
        <p:spPr>
          <a:xfrm>
            <a:off x="4707036" y="156964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1. 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價格波動性大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09EE57-CEA3-0D0E-E844-76A0549F152B}"/>
              </a:ext>
            </a:extLst>
          </p:cNvPr>
          <p:cNvSpPr/>
          <p:nvPr/>
        </p:nvSpPr>
        <p:spPr>
          <a:xfrm>
            <a:off x="6019664" y="2195988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長期持有風險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5A9AB9-8974-D107-46FE-8F2A59509413}"/>
              </a:ext>
            </a:extLst>
          </p:cNvPr>
          <p:cNvSpPr/>
          <p:nvPr/>
        </p:nvSpPr>
        <p:spPr>
          <a:xfrm>
            <a:off x="7332291" y="1525656"/>
            <a:ext cx="1315695" cy="1252685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3.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市場風險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206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CEDC-D6CE-2C9A-BC45-86484859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38A2A34-02B9-D744-0827-4DB1DE523F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安碩核心美國綜合債券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(AGG.US)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13AF81-CA80-4860-4EE3-1A26B91E2138}"/>
              </a:ext>
            </a:extLst>
          </p:cNvPr>
          <p:cNvSpPr txBox="1"/>
          <p:nvPr/>
        </p:nvSpPr>
        <p:spPr>
          <a:xfrm>
            <a:off x="1475656" y="6538441"/>
            <a:ext cx="571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https://finance.yahoo.com/quote/AGG/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D784E9-91EC-E001-0D92-6C2EE687D099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2003/09/22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Aggregate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投資標的涵蓋美國公債、機構債、投資等級公司債、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MBS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ABS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等美元計價投資等級債券。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特色是一次分散布局美國整體投資等級債券市場，兼具收益與防禦配置功能；平均存續期間約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5–6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年，利率敏感度屬中等，適合作為核心債券配置工具。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信用品質以美國政府相關債與投資等級債券為主，整體信用風險相對較低。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0F5D255-C1E2-33BC-42E2-18C346148477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97A7F-E400-911B-1FFE-4CD74283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20" y="4158189"/>
            <a:ext cx="3999627" cy="2222875"/>
          </a:xfrm>
          <a:prstGeom prst="rect">
            <a:avLst/>
          </a:prstGeom>
        </p:spPr>
      </p:pic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2F1FEDC3-3FFD-9C2F-B765-510E2D239F67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6167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4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7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9119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65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+ 0.69%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650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+ 5.44%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546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+ 3.76%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A0EDC846-ED3B-0C9A-BC57-8FA983F7856A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CD7D44-A954-707C-E1C4-128396B04509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投資等級</a:t>
            </a:r>
            <a:r>
              <a:rPr lang="zh-TW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/ </a:t>
            </a: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信評BBB以上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99262B-D4CA-9E46-7C88-E5A93A6D288F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7.95年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DD18D0-BB6A-BE92-6D02-7DB82DBED2A7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5.73年</a:t>
            </a:r>
          </a:p>
        </p:txBody>
      </p:sp>
    </p:spTree>
    <p:extLst>
      <p:ext uri="{BB962C8B-B14F-4D97-AF65-F5344CB8AC3E}">
        <p14:creationId xmlns:p14="http://schemas.microsoft.com/office/powerpoint/2010/main" val="2749964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4076-30E1-90EA-67B6-2AA30753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CE86A23-ECB3-02DC-E1E4-EA8B781712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領航總債券市場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ETF(BND.US)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37ECC74-942C-14FA-D82B-CD55B375FB97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https://finance.yahoo.com/quote/BND/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FBC5525-5E05-6CF0-1D77-09EAA776857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2007/04/03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Aggregate Float Adjusted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投資範圍涵蓋美國投資等級公債、政府相關債、公司債、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MBS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ABS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CMBS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特色是以低成本方式廣泛布局美國投資等級債券市場，排除抗通膨債與免稅債，提供中天期債券收益來源，適合作為長期資產配置中的核心債券部位。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整體信用品質高，主要持有美元計價、固定利率、投資等級債券。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7F221A-04EE-E1F6-B775-8EFA7BD6E6BE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A9C5A-D696-67E9-BF97-9A4B20BE7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1771"/>
            <a:ext cx="3960000" cy="2226733"/>
          </a:xfrm>
          <a:prstGeom prst="rect">
            <a:avLst/>
          </a:prstGeom>
        </p:spPr>
      </p:pic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9EF0C6F7-C234-3E09-2371-5583E44AD7B3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6242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10282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+ 0.69%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+ 5.30%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570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+ 3.75%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0CD5C7CC-F3E2-2778-6A74-A361BBAB1A7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F778B6-C42E-2D30-D580-B8F737F0403D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投資等級</a:t>
            </a:r>
            <a:r>
              <a:rPr lang="zh-TW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/ </a:t>
            </a:r>
          </a:p>
          <a:p>
            <a:pPr algn="ctr"/>
            <a:r>
              <a:rPr lang="en-GB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平均信評AA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1D9499-C3A6-4FBA-5E73-02B6541D9CCF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8.0年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3D9D30-2217-8303-E509-C4A5F159538C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5.7年</a:t>
            </a:r>
          </a:p>
        </p:txBody>
      </p:sp>
    </p:spTree>
    <p:extLst>
      <p:ext uri="{BB962C8B-B14F-4D97-AF65-F5344CB8AC3E}">
        <p14:creationId xmlns:p14="http://schemas.microsoft.com/office/powerpoint/2010/main" val="1341570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7174-81BD-22B2-E74B-DE5B7882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9D26B129-6D13-4575-74BB-0CA9DA3B6D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年以上公債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(TLT.US)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11F8394-04F2-D299-C2CD-9DE316088867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https://finance.yahoo.com/quote/TLT/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FDA10F8-27DE-1FE1-27BE-0959A2877B2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2002/07/22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ICE U.S. Treasury 20+ Year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投資標的是剩餘年期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年以上的美國長天期公債。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特色是提供長天期美國公債曝險，對利率變化敏感度高；在降息預期升溫或景氣轉弱時，較有機會受惠於長天期殖利率下行。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信用品質以美國政府公債為主，信用風險相對低，但存續期間長，價格波動明顯高於中短天期債券；若利率上升或通膨預期升溫，淨值回檔壓力較大。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11D80C-A081-5592-ACA1-124B8201154D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FC1D6-9BA0-5208-74BC-4C7E481DC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58155"/>
            <a:ext cx="3960000" cy="2229791"/>
          </a:xfrm>
          <a:prstGeom prst="rect">
            <a:avLst/>
          </a:prstGeom>
        </p:spPr>
      </p:pic>
      <p:graphicFrame>
        <p:nvGraphicFramePr>
          <p:cNvPr id="7" name="內容版面配置區 4">
            <a:extLst>
              <a:ext uri="{FF2B5EF4-FFF2-40B4-BE49-F238E27FC236}">
                <a16:creationId xmlns:a16="http://schemas.microsoft.com/office/drawing/2014/main" id="{725FD7F4-F1FA-94FA-A9B7-784BCC04E9FD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623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10195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8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+ 0.60%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8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+ 2.74%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569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- 2.43%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168E4B53-3C25-3092-DA49-FD79A431EDA1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C8CFF6-C7DD-B448-B828-FFBF5912B158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美國公債</a:t>
            </a:r>
            <a:r>
              <a:rPr lang="zh-TW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/ </a:t>
            </a:r>
          </a:p>
          <a:p>
            <a:pPr algn="ctr"/>
            <a:r>
              <a:rPr lang="en-US" altLang="zh-TW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AA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以上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D80234-DFB1-A54B-4BC3-9B839D7F940D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25.92年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42BC5-32A9-9909-9762-AC456223B815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15.32年</a:t>
            </a:r>
          </a:p>
        </p:txBody>
      </p:sp>
    </p:spTree>
    <p:extLst>
      <p:ext uri="{BB962C8B-B14F-4D97-AF65-F5344CB8AC3E}">
        <p14:creationId xmlns:p14="http://schemas.microsoft.com/office/powerpoint/2010/main" val="2687745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7DAB-43A7-FC50-EA8F-E71F9AA8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EDD9BE16-D3E5-2F29-A652-F061BA62D5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7-10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年公債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(IEF.US)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5981CCA-F6F8-F7EF-F39A-8AF84830B5EC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https://finance.yahoo.com/quote/IEF/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ABECCD-F1A6-A5BA-4849-AA466FB73858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2002/07/22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ICE U.S. Treasury 7-10 Year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投資標的是剩餘年期約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至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年的美國公債。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特色是提供中長天期美國公債曝險，利率敏感度低於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TLT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但高於短天期公債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；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適合希望配置美債收益與景氣防禦性，但不想承擔過高長債波動的投資人。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信用品質以美國政府債為主，信用風險相對低；主要風險來自利率變動，若市場利率快速上行，債券價格仍會承壓。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96C8171-9B6D-9758-6240-B693950EC487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0B88B-23C7-A9B7-EA6A-54714F19D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3291"/>
            <a:ext cx="3960000" cy="2225214"/>
          </a:xfrm>
          <a:prstGeom prst="rect">
            <a:avLst/>
          </a:prstGeom>
        </p:spPr>
      </p:pic>
      <p:graphicFrame>
        <p:nvGraphicFramePr>
          <p:cNvPr id="7" name="內容版面配置區 4">
            <a:extLst>
              <a:ext uri="{FF2B5EF4-FFF2-40B4-BE49-F238E27FC236}">
                <a16:creationId xmlns:a16="http://schemas.microsoft.com/office/drawing/2014/main" id="{80047373-5556-E0E7-FE11-2AF49A93486E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6242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10282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+ 0.32%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842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570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+ 2.37%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2E962324-CF66-094A-4F2A-A6295E54B6E1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64B6CE-1B3A-7288-BAAA-ABC5FBCC9CE8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美國公債</a:t>
            </a:r>
            <a:r>
              <a:rPr lang="zh-TW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/ </a:t>
            </a:r>
          </a:p>
          <a:p>
            <a:pPr algn="ctr"/>
            <a:r>
              <a:rPr lang="en-US" altLang="zh-TW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AA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以上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172975-1B80-FB42-05F8-93DFBBE99053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8.44年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CB0E6A-A792-D5EB-DEC2-A2AC24F77242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6.94年</a:t>
            </a:r>
          </a:p>
        </p:txBody>
      </p:sp>
    </p:spTree>
    <p:extLst>
      <p:ext uri="{BB962C8B-B14F-4D97-AF65-F5344CB8AC3E}">
        <p14:creationId xmlns:p14="http://schemas.microsoft.com/office/powerpoint/2010/main" val="198290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A5D1-F445-61CA-1681-311178E3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ED8FCE8-F7B1-F76E-E224-654D01E5D08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PIMCO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短期債主動型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(MINT.US)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E0E7012-5B23-EF22-ADEC-7CCFBD4261C1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https://finance.yahoo.com/quote/MINT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3"/>
              </a:rPr>
              <a:t>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A27737-A817-6271-C031-1FBEBCE1E5B3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2009/11/16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PIMCO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旗下主動型短期債券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投資於不同到期日的固定收益工具，目標是在維持本金穩定的前提下追求較高當期收益。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特色是平均到期與存續期間皆偏短，利率敏感度相對低，適合作為現金管理、短期資金停泊或低波動收益配置工具。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投資組合通常以投資等級信用債與證券化債券為主，信用風險低於高收益債，但並非貨幣市場基金。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A074A5C-0ECF-50D0-5A12-EFEEDA2EB548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8DCCA-EBC6-2A1E-B5EC-56D8AB1FA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1773"/>
            <a:ext cx="3960000" cy="2226732"/>
          </a:xfrm>
          <a:prstGeom prst="rect">
            <a:avLst/>
          </a:prstGeom>
        </p:spPr>
      </p:pic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550AA6B1-EDE2-7EED-3A03-4122A1C8638D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6242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10282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84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+ 1.32%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842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570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+ 5.51%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7" name="矩形 18">
            <a:extLst>
              <a:ext uri="{FF2B5EF4-FFF2-40B4-BE49-F238E27FC236}">
                <a16:creationId xmlns:a16="http://schemas.microsoft.com/office/drawing/2014/main" id="{E737BCF2-8593-66E1-CC62-B1E4CB7B626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1A0D15-84B6-77EC-DEEB-96CC9468DE3C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+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CFE8B2-D282-70DC-98ED-A7C7FA910432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0.47年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5E4EA4-BE95-19D9-1F85-96B75661BD1B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0.42年</a:t>
            </a:r>
          </a:p>
        </p:txBody>
      </p:sp>
    </p:spTree>
    <p:extLst>
      <p:ext uri="{BB962C8B-B14F-4D97-AF65-F5344CB8AC3E}">
        <p14:creationId xmlns:p14="http://schemas.microsoft.com/office/powerpoint/2010/main" val="2463875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9D5D-24C1-D136-C33F-A27BB1CF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768F1EAA-28DA-F3F2-EB5A-E1A09800EA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Global X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美國優先股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(PFFD.US)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94A417C-D7D2-ECF6-F574-2865BAB1B027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59784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BAPA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4.19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美國銀行優先股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ALBPA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鋰化工企業優先股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CPN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發電與能源公司優先股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WFCPL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富國銀行優先股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KKRPD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另類資產管理優先股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A0B0B1D-844D-31FF-DC44-742053885494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D66D9D5-1221-B376-7AAA-4C68CA4AD6AF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https://finance.yahoo.com/quote/PFFD/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EE6AA89-9957-6E22-532D-B70FF50144FF}"/>
              </a:ext>
            </a:extLst>
          </p:cNvPr>
          <p:cNvSpPr txBox="1"/>
          <p:nvPr/>
        </p:nvSpPr>
        <p:spPr>
          <a:xfrm>
            <a:off x="537220" y="1062248"/>
            <a:ext cx="3960001" cy="2419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2017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ICE BofA Diversified Core U.S. Preferred Securities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投資標的為美國上市優先股及優先證券，提供美國優先股市場的廣泛曝險。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特色是兼具股票與債券特性，通常收益率高於一般投資等級債券，且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PFFD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採月配息，適合偏好固定收益與現金流配置的投資人。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投資組合以金融機構發行的優先股為主，利率敏感度與信用利差變化會影響價格表現。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DE909F3-205C-AF3F-95EE-82C8B85D4BFC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4BD66-D434-A44E-9118-E09EB4789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5" y="4160451"/>
            <a:ext cx="3960001" cy="2217623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DCB41A2-ED7E-A3BA-CE18-7205C4B99C31}"/>
              </a:ext>
            </a:extLst>
          </p:cNvPr>
          <p:cNvGraphicFramePr>
            <a:graphicFrameLocks/>
          </p:cNvGraphicFramePr>
          <p:nvPr/>
        </p:nvGraphicFramePr>
        <p:xfrm>
          <a:off x="4497221" y="1225219"/>
          <a:ext cx="415076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23670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4D28-5409-56CB-0172-0CDA2F85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877EEFAA-8176-6281-CBF9-3C79E29DF1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Vanguard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股利增值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(VIG.US)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D206F8A5-9245-A320-BF14-5E24B8EDFDAD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300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3.81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JPMorgan Chase &amp; Co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3.53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美國大型綜合金融集團</a:t>
                      </a:r>
                      <a:endParaRPr lang="zh-TW" altLang="en-US" sz="1200" b="0" kern="1200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 Lilly and Company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糖尿病與肥胖症藥物龍頭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81E69A2-52AE-847A-180E-21AB48780C4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8675716-34CC-E0EE-270B-C90ED6480E70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https://finance.yahoo.com/quote/VIG/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BBF0EB3-2F38-E5F7-9F05-B1B70BA70DAA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U.S. Dividend Growers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投資標的是具備連續提高股利紀錄的美國大型企業；持股約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334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檔，資產規模約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990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億美元，配息頻率為季配息。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成分股以財務體質穩健、現金流充足且具長期股利成長能力的企業為主，適合作為美股核心防禦型配置工具。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投資領域涵蓋科技、金融、醫療保健、工業及消費等產業，著重股利穩定成長而非單純高殖利率。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E5EBCB5-F2B0-7E4F-26CB-9E74703DC874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AFEA3-D588-79FF-3FEC-818D0C2E8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59585"/>
            <a:ext cx="3981477" cy="2240216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E061E18-AE8A-AB76-BEA1-29918D7482E9}"/>
              </a:ext>
            </a:extLst>
          </p:cNvPr>
          <p:cNvGraphicFramePr>
            <a:graphicFrameLocks/>
          </p:cNvGraphicFramePr>
          <p:nvPr/>
        </p:nvGraphicFramePr>
        <p:xfrm>
          <a:off x="4497220" y="1235415"/>
          <a:ext cx="415076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96185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0443-2823-80DE-BF13-24B42E88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872BC4B-8E34-4A17-5849-B50310EEE6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Schwab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美國高股利股票型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ETF(SCHD.US)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13BEB62-8372-FAAF-7A42-8F7764AB4448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327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Chervon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全球綜合能源龍頭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ConocoPhillips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全球大型油氣探勘生產商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Verizon Communications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美國大型電信服務商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Merck &amp; Co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全球創新製藥龍頭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Coca-Cola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全球飲料品牌龍頭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17D1461-7892-AD06-BCB9-8DEE9483A49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9601EB9-F925-08C0-E828-141136D6342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https://finance.yahoo.com/quote/SCHD/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B242098-5005-3B7F-FCF0-3D1AD97CC52E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Dow Jones U.S. Dividend 100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投資標的是具備穩定配息紀錄與基本面品質的美國高股利股票；費用率為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，配息頻率為季配息。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特色是透過股利殖利率、獲利能力、現金流與財務品質篩選成分股，兼具高股息收入與基本面品質，適合偏好現金流、股利收益與美股價值型配置的投資人。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投資組合約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檔股票，持股較集中於成熟大型企業，產業配置會隨指數調整而變動。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8DDBCA6-5AB7-06B9-D8EF-74B76D89E29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BADEE-289B-6B2D-EFCC-9FE3FB955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91171"/>
            <a:ext cx="3960000" cy="21852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8E0C6F2-E484-C932-281E-FB565BCF4F49}"/>
              </a:ext>
            </a:extLst>
          </p:cNvPr>
          <p:cNvGraphicFramePr>
            <a:graphicFrameLocks/>
          </p:cNvGraphicFramePr>
          <p:nvPr/>
        </p:nvGraphicFramePr>
        <p:xfrm>
          <a:off x="4536847" y="1235415"/>
          <a:ext cx="41111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90915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D5E2-B347-CDEC-9A83-F249E96C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74F0A53-BB58-4132-B6F5-A8C28749DE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領航抵押貸款證券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(VMBS.US)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7E247C-1C1E-0970-661E-74852F661036}"/>
              </a:ext>
            </a:extLst>
          </p:cNvPr>
          <p:cNvSpPr txBox="1"/>
          <p:nvPr/>
        </p:nvSpPr>
        <p:spPr>
          <a:xfrm>
            <a:off x="1475656" y="6538441"/>
            <a:ext cx="5545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https://finance.yahoo.com/quote/VMBS/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0CF2D3-3D74-1BDD-45C1-DDCBD914B5F6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2009/11/19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Bloomberg U.S. MBS Float Adjusted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投資於美國政府機構抵押貸款證券，包括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GNMA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FNMA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FHLMC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發行的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MBS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特色是提供高信用品質的美國機構房貸抵押證券曝險，收益通常高於同天期美國公債，但價格表現會受到房貸利率與提前還款行為影響。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整體信用品質偏高，主要風險不是企業違約，而是利率變動與提前還款風險。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6036E9-7642-F41A-FE84-AA2E335DCF8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248E3-FB9D-9D0F-FF19-9F24C2E11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5669"/>
            <a:ext cx="3960000" cy="2185200"/>
          </a:xfrm>
          <a:prstGeom prst="rect">
            <a:avLst/>
          </a:prstGeom>
        </p:spPr>
      </p:pic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614E970F-5AF5-B99B-BA18-BCEC7A061056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65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5961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+ 1.12%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2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+ 7.02%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0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+ 4.46%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14F724E7-9651-5BAB-5689-B3CBD7A20838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054AFF-F313-5155-5BF9-D86B5C42BB6E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平均信評AAA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5E4CB1-9E81-FC12-9CA0-BB0CFC5AC9B2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6.5年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2A7E8A-F71A-D251-5538-EC12984B695F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5.08年</a:t>
            </a:r>
          </a:p>
        </p:txBody>
      </p:sp>
    </p:spTree>
    <p:extLst>
      <p:ext uri="{BB962C8B-B14F-4D97-AF65-F5344CB8AC3E}">
        <p14:creationId xmlns:p14="http://schemas.microsoft.com/office/powerpoint/2010/main" val="2471132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5A4D-0222-F061-C6C4-A1F0791E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496700B-EA59-B105-A9B4-F6DB76E9A15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安碩抗通膨債券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(TIP.US)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9ADC038-A261-B7A8-0D93-793F31FAE209}"/>
              </a:ext>
            </a:extLst>
          </p:cNvPr>
          <p:cNvSpPr txBox="1"/>
          <p:nvPr/>
        </p:nvSpPr>
        <p:spPr>
          <a:xfrm>
            <a:off x="1475655" y="6538441"/>
            <a:ext cx="5895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https://finance.yahoo.com/quote/TIP/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44D44E8-5C96-47E2-C72F-878B6306D63C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2003/12/04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ICE U.S. Treasury Inflation Linked Bond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投資標的是美國抗通膨公債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TIPS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本金會隨美國通膨指數調整。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特色是可提供通膨保護，當實際通膨高於市場預期時，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TIPS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本金與利息基礎有機會上調，適合作為抗通膨與中天期美債配置工具。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信用品質以美國政府公債為主，信用風險相對低；但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價格仍受實質利率影響，若實質利率上升，淨值仍可能承壓。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A06CB1-6621-1D3C-00F6-2E982479CC1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60A50-B58F-C636-EBBC-818B8EF1E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77262"/>
            <a:ext cx="3960000" cy="2185200"/>
          </a:xfrm>
          <a:prstGeom prst="rect">
            <a:avLst/>
          </a:prstGeom>
        </p:spPr>
      </p:pic>
      <p:graphicFrame>
        <p:nvGraphicFramePr>
          <p:cNvPr id="7" name="內容版面配置區 4">
            <a:extLst>
              <a:ext uri="{FF2B5EF4-FFF2-40B4-BE49-F238E27FC236}">
                <a16:creationId xmlns:a16="http://schemas.microsoft.com/office/drawing/2014/main" id="{56059684-934F-F038-C994-F4C3EA499278}"/>
              </a:ext>
            </a:extLst>
          </p:cNvPr>
          <p:cNvGraphicFramePr>
            <a:graphicFrameLocks/>
          </p:cNvGraphicFramePr>
          <p:nvPr/>
        </p:nvGraphicFramePr>
        <p:xfrm>
          <a:off x="4755915" y="3764287"/>
          <a:ext cx="3892071" cy="25981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9235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2522836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</a:tblGrid>
              <a:tr h="40621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歷史表現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6716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YTD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+ 1.72%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67169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1-Year Return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+ 4.75%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8485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3-Year Return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+ 3.42%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</a:tbl>
          </a:graphicData>
        </a:graphic>
      </p:graphicFrame>
      <p:sp>
        <p:nvSpPr>
          <p:cNvPr id="8" name="矩形 18">
            <a:extLst>
              <a:ext uri="{FF2B5EF4-FFF2-40B4-BE49-F238E27FC236}">
                <a16:creationId xmlns:a16="http://schemas.microsoft.com/office/drawing/2014/main" id="{B99C18BF-C625-0316-64E8-2F39AD65EE8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相關指標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CD67AB-B845-B7E3-4553-B8CC1BEE3F7D}"/>
              </a:ext>
            </a:extLst>
          </p:cNvPr>
          <p:cNvSpPr/>
          <p:nvPr/>
        </p:nvSpPr>
        <p:spPr>
          <a:xfrm>
            <a:off x="6855518" y="2516170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風險評等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美國抗通膨公債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/ </a:t>
            </a:r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AA以上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E760D0-4063-BB1E-3F64-0FB2EF239BEE}"/>
              </a:ext>
            </a:extLst>
          </p:cNvPr>
          <p:cNvSpPr/>
          <p:nvPr/>
        </p:nvSpPr>
        <p:spPr>
          <a:xfrm>
            <a:off x="5734030" y="1517315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平均到期日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7.15年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DE69FC-474E-4762-895A-D818EA71FFE2}"/>
              </a:ext>
            </a:extLst>
          </p:cNvPr>
          <p:cNvSpPr/>
          <p:nvPr/>
        </p:nvSpPr>
        <p:spPr>
          <a:xfrm>
            <a:off x="4738128" y="2536868"/>
            <a:ext cx="1876483" cy="1007479"/>
          </a:xfrm>
          <a:prstGeom prst="ellipse">
            <a:avLst/>
          </a:prstGeom>
          <a:solidFill>
            <a:srgbClr val="F4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有效存續期間</a:t>
            </a:r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ea typeface="Microsoft JhengHei UI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ea typeface="Microsoft JhengHei UI" panose="020B0604030504040204" pitchFamily="34" charset="-120"/>
                <a:cs typeface="Arial" panose="020B0604020202020204" pitchFamily="34" charset="0"/>
              </a:rPr>
              <a:t>6.36年</a:t>
            </a:r>
          </a:p>
        </p:txBody>
      </p:sp>
    </p:spTree>
    <p:extLst>
      <p:ext uri="{BB962C8B-B14F-4D97-AF65-F5344CB8AC3E}">
        <p14:creationId xmlns:p14="http://schemas.microsoft.com/office/powerpoint/2010/main" val="3733655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3A0B-D54D-30FD-32A1-FEFFBC60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AF17D94-6177-1B80-E49A-3E6BCE5D25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思柏達金融指數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ETF(XLF.US)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5CC50B8B-4B1E-6B13-74BB-80588E4ABF57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39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50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3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Berkshire Hathaway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12.45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多元控股與保險投資集團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3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JPMorgan Chase &amp; Co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美國大型綜合金融集團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01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Visa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全球支付網路龍頭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3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Mastercard Incorporated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全球支付科技龍頭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3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Bank of America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美國大型銀行集團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5321F49-79F2-B3E1-CA4A-30938E9D63A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7F113DD-29FB-57F1-44EA-2ED48369BE6E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https://finance.yahoo.com/quote/XLF/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21A8326-FFEE-E71F-0AB6-4B2DAF50D89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Financial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中的金融類股，涵蓋大型銀行、保險、資本市場、消費金融與金融服務公司，費用率為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特色是可一次布局美國大型金融企業，受惠於利率環境、貸款需求、資本市場交易活動及財富管理成長，適合作為美股金融板塊配置工具。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投資組合以大型銀行與金融服務公司為主，景氣循環與利率變化對表現影響較大。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7C23D3-C92D-F494-AFC0-9F9BCF00617D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DC9F4-A8F7-3051-CEF3-0F75D3032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5928"/>
            <a:ext cx="3960000" cy="222684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B40EB7-E2BA-3874-9985-CEE8C9025067}"/>
              </a:ext>
            </a:extLst>
          </p:cNvPr>
          <p:cNvGraphicFramePr>
            <a:graphicFrameLocks/>
          </p:cNvGraphicFramePr>
          <p:nvPr/>
        </p:nvGraphicFramePr>
        <p:xfrm>
          <a:off x="4436965" y="1211857"/>
          <a:ext cx="4211021" cy="2759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52488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5598-5EBD-D186-A837-4285D3A1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70A458A-867C-D68B-E5C1-8CEA86D86B3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公用事業精選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ETF(XLU.US)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D675A70D-0133-E071-B03F-9FD83D7B4B1F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7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7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294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NextEra Energy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13.57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再生能源與電力公用事業龍頭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294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Southern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7.45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美國大型電力公用事業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294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Duke Energy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7.14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美國大型電力與天然氣公用事業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2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Constellation Energy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6.10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美國核能與潔淨電力供應商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294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American Electric Power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美國電力公用事業集團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341C55E-E14D-FCA3-AE04-9578993A7B28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61DFA5-F778-3C30-5F95-A9BFA8488EF4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https://finance.yahoo.com/quote/XLU/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4AE84E5-A886-D13A-C5AC-143C8A438BCB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Utilities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中的公用事業類股，涵蓋電力、天然氣、水務及綜合公用事業公司，費用率為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特色是成分股多具受監管營運模式與穩定現金流，股利收益相對穩定，適合偏好防禦型配置與現金流的投資人。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投資組合對利率變化較敏感，當利率上升時，公用事業股估值可能承壓；但在景氣放緩或市場波動升高時，通常具較高防禦性。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C48BC95-B6E3-73B3-C435-5D0B53704AC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271A72-E32D-CAA9-A28F-3185171B4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5928"/>
            <a:ext cx="3960000" cy="2231158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7F1D00A-7D42-7E11-D408-53B6E2188E74}"/>
              </a:ext>
            </a:extLst>
          </p:cNvPr>
          <p:cNvGraphicFramePr>
            <a:graphicFrameLocks/>
          </p:cNvGraphicFramePr>
          <p:nvPr/>
        </p:nvGraphicFramePr>
        <p:xfrm>
          <a:off x="4436964" y="1237266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52351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C119-E74B-3907-67C9-FAFD5BD2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EAD3B835-DF74-2729-5F16-0BF05A6C02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思柏達核心消費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ETF(XLP.US)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1D417CAB-1955-58BC-28E6-F27C1966F897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399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Walmart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11.85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全球大型零售通路龍頭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Costco Wholesale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9.62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會員制倉儲零售龍頭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P&amp;G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7.30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全球家庭與個人護理龍頭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Coca-Cola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全球飲料品牌龍頭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Philip Morris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5.60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全球無煙菸草與尼古丁產品龍頭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B4A44906-E307-B2DD-9AF7-A0A52A1CB097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1B95BD3-FA4D-CB79-15DF-165E08374655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https://finance.yahoo.com/quote/XLP/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1A25E8F-570A-209C-7652-7E87AD0EE250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Consumer Staples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中的核心消費類股，涵蓋食品飲料、家庭用品、個人護理、菸草及大型零售企業，費用率為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特色是聚焦日常必需消費產業，需求相對穩定，企業多具品牌力、通路優勢與定價能力，適合作為美股防禦型配置工具。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投資組合波動通常低於景氣敏感型產業，但成長性相對有限。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3A510A-042E-872D-9300-6AF607C23B03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ED520-748A-9615-5687-8826D2B23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5928"/>
            <a:ext cx="3960000" cy="222684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A952897-02D1-C608-34F5-CB5C22873012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95802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8CB3-2471-A58B-EDB8-143D7EBA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5EA594A-D6CD-03B4-9FC1-F6D59B73357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思柏達科技指數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ETF(XLK.US)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D0479FBB-EFF7-AE93-1D49-AC306F2957F1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92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29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45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15.48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45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13.61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74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45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5.36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451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Micron Technology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記憶體與儲存晶片大廠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F6ACDBBB-10D2-545B-7B01-3F03F6C7F70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73B508F-26C3-A305-C235-ECC0F11F5530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https://finance.yahoo.com/quote/XLK/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D7BB666-8A93-C09E-EA59-B5C2645C478F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Technology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中的科技類股，涵蓋軟體、半導體、硬體、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IT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服務與科技設備公司，費用率為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特色是集中布局美國大型科技龍頭，受惠於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雲端運算、半導體、企業軟體與數位化轉型趨勢，適合作為美股科技板塊核心配置工具。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投資組合成長性較高，但持股集中度與估值敏感度也較高。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5630946-46FC-316B-F012-1F1A84CF32E7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987FB-A1A8-A884-F1F0-B83C46672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5928"/>
            <a:ext cx="3960000" cy="222684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0641496-B66D-78F3-9462-7F74D7E641CB}"/>
              </a:ext>
            </a:extLst>
          </p:cNvPr>
          <p:cNvGraphicFramePr>
            <a:graphicFrameLocks/>
          </p:cNvGraphicFramePr>
          <p:nvPr/>
        </p:nvGraphicFramePr>
        <p:xfrm>
          <a:off x="4607154" y="1216565"/>
          <a:ext cx="40408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97754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73ABE-29EA-099A-ACCC-CF8C8A63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92F44DE-ED4D-9F25-6A32-FEF148D9A1E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思柏達非核心消費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ETF(XLY.US)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1FE9A26-DC24-E01A-7A52-0DEA9ED04404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153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Amazon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23.51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Tesla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18.96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電動車與能源科技龍頭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Home Depot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5.94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家居修繕零售龍頭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McDonald’s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4.49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全球連鎖速食龍頭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TJX Companies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4.41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折扣零售服飾龍頭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D3DAEAF9-C99B-980D-3DCF-4D5608C289EE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034FE1-F40E-9D8C-B65F-6B2CC5D5A88B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https://finance.yahoo.com/quote/XLY/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F40D17F-9E70-3BE2-1CEB-CB5479232CB1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Consumer Discretionary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中的非必需消費類股，涵蓋電商、汽車、零售、餐飲、旅遊休閒與消費服務公司，費用率為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特色是可參與美國消費升級、電商滲透、旅遊休閒復甦與大型消費平台成長，適合作為掌握美國消費循環與成長型消費股的配置工具。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051168-3003-9101-09B2-076D08ECD472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A78E1-3A3B-687E-27C5-FC2A54E9E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5928"/>
            <a:ext cx="3960000" cy="222684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E952F6-2818-B108-1FB7-88A331E67A63}"/>
              </a:ext>
            </a:extLst>
          </p:cNvPr>
          <p:cNvGraphicFramePr>
            <a:graphicFrameLocks/>
          </p:cNvGraphicFramePr>
          <p:nvPr/>
        </p:nvGraphicFramePr>
        <p:xfrm>
          <a:off x="4436965" y="1219939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92191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E405-FAA6-FF6C-81F7-16DBE280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A8F26BE-3D8A-685B-41ED-766FE7CFA0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通信服務精選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ETF(XLC.US)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38F65DBE-7C2C-AECF-C533-503BA42362AD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438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Meta Platforms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18.17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社群平台與數位廣告龍頭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Alphabet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8.52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搜尋引擎與雲端平台龍頭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Netflix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5.89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全球串流影音平台龍頭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AT&amp;T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美國大型電信服務商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FB97960-E6AA-515C-26F5-BF1CE56D7AE0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BBEABA3-B7FA-701A-6E3B-FC3D04FAAC9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https://finance.yahoo.com/quote/XLC/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197F65A-DB89-14ED-9DB0-31573A5ECD2A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Communication Services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中的通信服務類股，涵蓋網路平台、社群媒體、數位廣告、串流影音、電信與媒體娛樂公司，費用率為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特色是結合成長型網路平台與防禦型電信資產，可參與數位廣告、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應用、影音串流與社群平台成長，適合作為美股通信與媒體平台配置工具。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0C76EDB-BF41-9D35-127B-E5DE6E40D8A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A0858-D2EB-E989-AACF-4645078AA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5928"/>
            <a:ext cx="3960000" cy="222684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73EE68-89A7-A76C-02A3-B3AE71DD1425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67914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16BF-748A-1899-0632-D561EAA9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B946783A-7FDA-6D4B-B4A7-D5F2F50F5AD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SPDR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工業類股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ETF(XLI.US)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8A98602-D2BF-D656-7EFD-60E3D5F98B6C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509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Caterpillar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6.52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工程機械與能源設備龍頭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GE Aerospace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5.88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航空引擎與航太系統龍頭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RTX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5.12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航太與國防科技龍頭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GE </a:t>
                      </a:r>
                      <a:r>
                        <a:rPr lang="en-US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Vernova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電力設備與能源科技龍頭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The Boeing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3.09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商用飛機與國防航太大廠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F1E1208-E3DB-E019-9E0B-0608D5F7A3DA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9BEBD15-CFCE-7726-FB2E-2333C02288D9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https://finance.yahoo.com/quote/XLI/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2E6296-E3FB-1666-4FB5-2FC7FE981026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1998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Industrial Select Sector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500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中的工業類股，涵蓋航太國防、工程機械、運輸、工業自動化、電氣設備及專業服務公司，費用率為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特色是可一次布局美國大型工業企業，受惠於基礎建設投資、製造業自動化、國防支出、物流運輸與能源設備需求，適合作為景氣循環與工業升級配置工具。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17C1ED5-E37B-DB54-5EE8-DF6C69EFACAA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1BBBE-D5A3-816E-4F9B-BEBBDAB16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5928"/>
            <a:ext cx="3960000" cy="2231158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66C174-6D38-2BBF-C530-878E664F1993}"/>
              </a:ext>
            </a:extLst>
          </p:cNvPr>
          <p:cNvGraphicFramePr>
            <a:graphicFrameLocks/>
          </p:cNvGraphicFramePr>
          <p:nvPr/>
        </p:nvGraphicFramePr>
        <p:xfrm>
          <a:off x="4436965" y="1201167"/>
          <a:ext cx="4211021" cy="2753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54873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74D4-FDEB-5715-6DA3-77AD51AA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6342F61A-95AB-8A76-42ED-F4880F4F77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ARK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新興主動型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ETF(ARKK.US)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017E1DFB-0030-5F40-49DB-FDE142EA4F0F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438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Tesla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全球電動車與清潔能源龍頭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CRISPR Therapeutics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全球基因編輯療法公司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Tempus AI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精準醫療數據平台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Shopify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4.94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全球電商平台服務商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Circle Internet Group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穩定幣與數位金融科技公司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FD7F0D8A-46EE-2385-8D27-B8E2816263B6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35CAB57-62C7-8ACC-F4AA-2280A5641373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https://finance.yahoo.com/quote/ARKK/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CF396C6-407B-2342-1EF8-ECDCE8CAC2FA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ARK Invest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旗下主動型創新主題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不追蹤單一指數，主要投資於顛覆式創新企業，涵蓋人工智慧、基因科技、金融科技、機器人、自動化、區塊鏈與新世代網路平台，費用率為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0.75%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特色是集中布局高成長、高創新但尚未完全成熟的產業與公司，適合希望參與長期科技創新趨勢、且能承受高波動的積極型投資人。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投資組合持股較集中，且多為成長型或尚在擴張階段企業。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CBC4311-A00F-08D7-8E0C-31D169CF3233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A20E6-4B07-5FCB-F6F3-D3996FF6E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91486"/>
            <a:ext cx="3960000" cy="2201282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B0F5038-9661-134A-ABA2-CFF8D3006C81}"/>
              </a:ext>
            </a:extLst>
          </p:cNvPr>
          <p:cNvGraphicFramePr>
            <a:graphicFrameLocks/>
          </p:cNvGraphicFramePr>
          <p:nvPr/>
        </p:nvGraphicFramePr>
        <p:xfrm>
          <a:off x="4646781" y="1237266"/>
          <a:ext cx="400120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79688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4E70-131A-A7D5-D85E-EDC5755E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9260A2A-F9C9-4D8D-B7B4-77FB8A54A4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安碩生物科技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ETF(IBB.US)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5AEF775-542F-472C-8BF1-74B65E3DF046}"/>
              </a:ext>
            </a:extLst>
          </p:cNvPr>
          <p:cNvGraphicFramePr>
            <a:graphicFrameLocks/>
          </p:cNvGraphicFramePr>
          <p:nvPr/>
        </p:nvGraphicFramePr>
        <p:xfrm>
          <a:off x="4755915" y="3764288"/>
          <a:ext cx="3832715" cy="262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81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Gilead Sciences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7.75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全球抗病毒藥物龍頭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42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Amgen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全球大型生物製藥公司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Vertex Pharmaceuticals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7.44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囊性纖維化療法龍頭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Regeneron Pharmaceuticals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7.21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全球創新生技製藥公司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9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Alnylam Pharmaceuticals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3.99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RNAi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基因沉默療法龍頭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F00E039-59E5-8EF3-0688-20348F4ECA1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DBAD2E4-4486-BDDE-7DF3-F370EBF69DB5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https://finance.yahoo.com/quote/IBB/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6452F6-D728-9CB9-61A6-CCE2ABEB56C6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NYSE Biotechnology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投資標的是美國上市生物科技公司，涵蓋大型生技藥廠、臨床開發公司、基因療法、免疫治療與創新醫藥平台，費用率為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0.44%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特色是可一次布局美國生物科技產業，受惠於新藥研發、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FDA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核准、併購活動及創新療法滲透率提升，適合作為醫療保健中的高成長主題配置。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262432-F6B4-7A10-F493-B4DE24D2243D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21DF5-A015-4BFF-E70D-7552C8328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5928"/>
            <a:ext cx="3960000" cy="222684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DBE1841-DFE1-6BF8-7A08-3F9AEFAEA55E}"/>
              </a:ext>
            </a:extLst>
          </p:cNvPr>
          <p:cNvGraphicFramePr>
            <a:graphicFrameLocks/>
          </p:cNvGraphicFramePr>
          <p:nvPr/>
        </p:nvGraphicFramePr>
        <p:xfrm>
          <a:off x="4436965" y="1237266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2106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0A18D-6517-BA96-3B7B-2F5B0E99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DF532DE-CBB6-DF4B-64C6-447EA7F7EB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VanEck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半導體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ETF(SMH.US)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AD83E45-7CF9-2216-79BE-9B89458308E9}"/>
              </a:ext>
            </a:extLst>
          </p:cNvPr>
          <p:cNvGraphicFramePr>
            <a:graphicFrameLocks/>
          </p:cNvGraphicFramePr>
          <p:nvPr/>
        </p:nvGraphicFramePr>
        <p:xfrm>
          <a:off x="4755915" y="3775011"/>
          <a:ext cx="3832715" cy="26195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05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19.67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TSMC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11.73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全球晶圓代工龍頭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7.81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40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 Holding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5.01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1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AMD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200" b="0" kern="1200" dirty="0">
                          <a:solidFill>
                            <a:schemeClr val="dk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Arial" panose="020B0604020202020204" pitchFamily="34" charset="0"/>
                        </a:rPr>
                        <a:t>CPU/GPU</a:t>
                      </a:r>
                      <a:r>
                        <a:rPr lang="zh-TW" altLang="en-US" sz="1200" b="0" kern="1200" dirty="0">
                          <a:solidFill>
                            <a:schemeClr val="dk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Arial" panose="020B0604020202020204" pitchFamily="34" charset="0"/>
                        </a:rPr>
                        <a:t>晶片供應商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9CCAE4F-8706-0D06-D385-A32F12179D59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前五大產業分配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AD7DC68-142E-A495-F92E-A2AAF835EBDA}"/>
              </a:ext>
            </a:extLst>
          </p:cNvPr>
          <p:cNvSpPr txBox="1"/>
          <p:nvPr/>
        </p:nvSpPr>
        <p:spPr>
          <a:xfrm>
            <a:off x="1475656" y="6538441"/>
            <a:ext cx="5547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https://finance.yahoo.com/quote/SMH/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2026/4/24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3BA2ECA-8905-3EAF-E504-803678E083CF}"/>
              </a:ext>
            </a:extLst>
          </p:cNvPr>
          <p:cNvSpPr txBox="1"/>
          <p:nvPr/>
        </p:nvSpPr>
        <p:spPr>
          <a:xfrm>
            <a:off x="537220" y="1062248"/>
            <a:ext cx="3960001" cy="258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年，為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VanEck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旗下半導體產業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MVIS US Listed Semiconductor 25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投資美國上市且具高流動性的半導體與半導體設備公司；資產規模約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581.8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億美元，費用率為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0.35%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成分股聚焦半導體產業鏈龍頭，涵蓋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 GPU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晶圓代工、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IC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設計、半導體設備及記憶體等領域；受惠於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算力需求、雲端資料中心擴建、先進製程升級與高效能運算趨勢，具備較高成長性。</a:t>
            </a:r>
            <a:endParaRPr lang="en-GB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0B1B82-94AE-116E-8560-785027E82D3F}"/>
              </a:ext>
            </a:extLst>
          </p:cNvPr>
          <p:cNvSpPr txBox="1"/>
          <p:nvPr/>
        </p:nvSpPr>
        <p:spPr>
          <a:xfrm>
            <a:off x="576847" y="3775011"/>
            <a:ext cx="3960000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4A4FA-02EB-C006-EA19-8CEF6C1A1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66" y="4130747"/>
            <a:ext cx="3960000" cy="2257200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F166994-60D8-63EA-67B4-022F3F00C327}"/>
              </a:ext>
            </a:extLst>
          </p:cNvPr>
          <p:cNvGraphicFramePr>
            <a:graphicFrameLocks/>
          </p:cNvGraphicFramePr>
          <p:nvPr/>
        </p:nvGraphicFramePr>
        <p:xfrm>
          <a:off x="4646781" y="1232805"/>
          <a:ext cx="4001205" cy="2728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114337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04FE-6717-90D6-4F5B-6FC27E26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2BC90E7F-2E53-FAD4-D65D-42E576CD1C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美國全球噴射機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ETF(JETS.US)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22F27755-48FD-61E2-EF6B-9EE25903E237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Delta Air Lines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美國大型全服務航空公司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United Airlines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全球航線網絡航空公司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American Airlines Group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美國大型航空運輸集團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Southwest Airlines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9.59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美國低成本航空龍頭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JetBlue Airways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美國低成本客運航空公司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1ED4E49-1B95-144D-4310-9BAB48F84E2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8463164-2E1F-4733-B0E0-BA06BC26767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https://finance.yahoo.com/quote/JETS/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09053F8-8BA4-EEF0-7CF7-DE6D7541AF0E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U.S. Global Jets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投資標的是全球航空產業相關公司，包括航空公司、飛機製造商、機場服務與航空相關供應鏈企業，費用率為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0.60%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特色是可一次布局全球航空與旅遊復甦題材，受惠於客運需求、商務旅遊、國際航線恢復與機票價格提升，適合作為航空產業主題型配置工具。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7101CE5-FC75-4F4D-FA8C-5F64744D6E0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0FD036-EFC9-2D8F-15D0-4B04FD50B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65928"/>
            <a:ext cx="3981477" cy="222684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5991000-BD77-737D-32D4-17B1A77CCE64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163953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12950-1120-BEAC-372F-3F4BF4E0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554E8FE-E795-66E6-A66C-090494C03D4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安碩美國不動產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(IYR.US)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5576B41-B9BE-CD5E-5ABA-22847D918740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Welltower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9.96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醫療保健不動產龍頭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Prologis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9.18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全球物流倉儲地產龍頭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Equinix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全球資料中心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REIT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Digital Realty Trust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資料中心不動產龍頭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Simon Property Group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4.58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高端購物中心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REIT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FBA35ADE-3D99-1171-E604-6A014E3949A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35C52B1-7041-36DE-54ED-8BEF336F5AF6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https://finance.yahoo.com/quote/IYR/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5A4664B-D082-6755-C0B6-44C5D1A3D871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2000/06/12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Dow Jones U.S. Real Estate Capped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投資標的為美國不動產類股與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REITs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涵蓋資料中心、電信塔、工業物流、住宅、零售及醫療不動產等領域。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特色是可一次布局美國上市不動產公司，兼具房地產收益與產業分散效果，適合想配置 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REITs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尋求股利收益或表達美國不動產板塊觀點的投資人。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F5AE5CF-4D19-7324-5C94-0A3B78BE45AD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63F8A-A1D1-EE06-C0C6-D1647EF56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2619"/>
            <a:ext cx="3960000" cy="2232000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A7FF03B-E333-71C8-BE89-C96189285525}"/>
              </a:ext>
            </a:extLst>
          </p:cNvPr>
          <p:cNvGraphicFramePr>
            <a:graphicFrameLocks/>
          </p:cNvGraphicFramePr>
          <p:nvPr/>
        </p:nvGraphicFramePr>
        <p:xfrm>
          <a:off x="4572000" y="1237266"/>
          <a:ext cx="4075986" cy="2772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2186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5DE9-6715-6053-FB22-CFA32B2F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571179AA-2733-4CD8-5437-A01854FD10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領航不動產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(VNQ.US)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93F3D39-A800-41D9-661E-BD3CB1A3B64D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Vanguard Real Estate II Index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14.50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美國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REITs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組合型基金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Welltower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7.69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醫療保健不動產龍頭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Prologis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7.03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全球物流倉儲地產龍頭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Equinix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5.51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全球資料中心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REIT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American Tower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4.63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通訊塔基礎設施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REIT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F9D6ED2-7F78-AC7D-D70C-91EFA47D0A0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0341E68-D34D-BDB2-072D-F2AC5C569914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https://finance.yahoo.com/quote/VNQ/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A4CA43-35B7-9F23-EDF3-3FC9B5061C30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 Investable Market Real Estate 25/50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投資標的為美國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REITs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及不動產相關公司，涵蓋工業物流、資料中心、住宅、醫療、零售與辦公等不動產類別。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特色是以低成本方式廣泛布局美國不動產市場，費用率為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0.13%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，適合作為美股資產配置中的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REITs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核心部位，兼具股利收益與長期不動產增值潛力。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3B8597A-EAA9-B524-CBC8-B3318F9AAB98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913D9-38C8-22E4-FB1D-67A8F5236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81546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9430781-49ED-A472-CEC1-ED5D5DF0C2B3}"/>
              </a:ext>
            </a:extLst>
          </p:cNvPr>
          <p:cNvGraphicFramePr>
            <a:graphicFrameLocks/>
          </p:cNvGraphicFramePr>
          <p:nvPr/>
        </p:nvGraphicFramePr>
        <p:xfrm>
          <a:off x="4497220" y="1237266"/>
          <a:ext cx="4150765" cy="270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55638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090F1-0E74-22C5-0580-4CD244BF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6975939-9951-8779-03CA-4351760709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安碩全球乾淨能源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(ICLN.US)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08CC4EB-2909-2BA5-58DA-AF5DB91B8C0D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Nextpower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10.17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太陽能發電資產營運商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Bloom Energy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固態氧化物燃料電池商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First Solar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6.13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太陽能模組製造龍頭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Iberdrola S.A.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5.76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全球再生能源電力集團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China Yangtze Power Co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4.70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中國大型水力發電公司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5E28E40-4ED6-BC45-F500-696EE151A7CD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C99EEDC-F8AA-1DC9-C74A-DF210D036DC6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https://finance.yahoo.com/quote/ICLN/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32956C6-B0C9-F112-6475-B4FAE938C152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S&amp;P Global Clean Energy Transition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投資標的為全球乾淨能源相關企業，涵蓋太陽能、風電、電力設備、再生能源營運商及能源轉型供應鏈。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特色是可一次布局全球能源轉型與再生能源主題，受惠於各國減碳政策、電網升級、綠電需求及企業淨零承諾，適合作為長期潔淨能源題材配置工具。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EC823C-E0A0-B113-7FBB-C7C473A3BCD3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72D33-9713-2D7E-3047-406B9775D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81546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064F896-BF4B-2621-90B0-B1AB9B5E8E10}"/>
              </a:ext>
            </a:extLst>
          </p:cNvPr>
          <p:cNvGraphicFramePr>
            <a:graphicFrameLocks/>
          </p:cNvGraphicFramePr>
          <p:nvPr/>
        </p:nvGraphicFramePr>
        <p:xfrm>
          <a:off x="4388086" y="1235415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088794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ADA7D-0D8A-AC3C-00C6-859ED780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CC28C447-FA44-E2B4-7837-DFF7B0C81E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Global X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機器人與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 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(BOTZ.US)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FD2DA026-F142-1A26-9A09-021CE1662395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8.44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Intuitive Surgical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8.23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機器人輔助手術系統龍頭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ABB Ltd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工業自動化與電氣設備龍頭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Keyence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7.87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工業感測器與自動化設備龍頭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Fanuc Corp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7.45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工業機器人與數控系統龍頭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860B69C-C81D-24ED-660D-3C2B3B2D0C7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A54262A-F7C2-EA3C-EFD3-5875C2575C43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https://finance.yahoo.com/quote/BOTZ/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2CBD2F7-7BF2-AB0A-AFA5-DA6C99323E25}"/>
              </a:ext>
            </a:extLst>
          </p:cNvPr>
          <p:cNvSpPr txBox="1"/>
          <p:nvPr/>
        </p:nvSpPr>
        <p:spPr>
          <a:xfrm>
            <a:off x="537220" y="1062248"/>
            <a:ext cx="3960001" cy="26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2016/09/12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Indxx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Global Robotics &amp; Artificial Intelligence Thematic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投資標的為機器人、自動化、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晶片、工業機器人、醫療機器人與智慧製造相關企業，費用率為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0.68%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特色是聚焦機器人與人工智慧長期成長趨勢，受惠於工廠自動化、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運算、醫療科技、物流自動化及勞動力短缺帶動的自動化需求。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投資組合偏主題型與成長型，持股集中於特定科技與自動化產業。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45C931-705E-D96E-78C8-E0B8BFCC9E9B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D95E6-38C1-7BCC-CB7B-3CF6C2DF0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81546"/>
            <a:ext cx="3981477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E3BE431-F0DF-E40D-1FB4-E508928BFD99}"/>
              </a:ext>
            </a:extLst>
          </p:cNvPr>
          <p:cNvGraphicFramePr>
            <a:graphicFrameLocks/>
          </p:cNvGraphicFramePr>
          <p:nvPr/>
        </p:nvGraphicFramePr>
        <p:xfrm>
          <a:off x="4536847" y="1201088"/>
          <a:ext cx="41111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39624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EE82-F179-04E1-A790-8121F7C0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BFD10C7-1C41-15BB-C858-1C6C9BD8241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領航資訊科技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(VGT.US)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23C16524-C8FF-4210-B4BC-73D6BD2B392A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Nvidia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18.52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 GPU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與加速運算晶片龍頭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Apple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15.85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消費電子與生態系整合龍頭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Microsoft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10.20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雲端與企業軟體龍頭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Broadcom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半導體與基礎設施軟體龍頭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Micron Technology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2.02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記憶體與儲存晶片大廠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9D171C-A4FF-12A6-7DA1-4DF054CCB5D4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221FF2D-47DE-EC50-B568-BE4ED1917A4F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https://finance.yahoo.com/quote/VGT/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BCE22B-B5F4-A730-BDEF-350EE71F870D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2004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US Investable Market Information Technology 25/50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投資標的是美國大型、中型及小型資訊科技公司，涵蓋軟體、半導體、硬體、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IT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服務與電子設備等產業。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特色是以低成本方式布局美國科技產業，費用率為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0.09%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，受惠於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雲端運算、企業軟體、半導體及數位化轉型趨勢，適合作為科技板塊核心配置工具。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B6461DD-73F3-A281-5218-163A843EB9FA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F7739-B961-DDFA-2289-684B612CB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81546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E7EB22D-74EC-F4C2-4BD3-83B138D7E426}"/>
              </a:ext>
            </a:extLst>
          </p:cNvPr>
          <p:cNvGraphicFramePr>
            <a:graphicFrameLocks/>
          </p:cNvGraphicFramePr>
          <p:nvPr/>
        </p:nvGraphicFramePr>
        <p:xfrm>
          <a:off x="4497221" y="1237266"/>
          <a:ext cx="4150765" cy="2707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65802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181B-19B0-A423-8391-D6995F38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B4AE27B-8541-D966-195C-3BD27D24AB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Global X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美國基礎建設發展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(PAVE.US)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EC73CE43-5B9E-7BE2-EFE7-27322D7829FB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Quanta Services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電力基建與工程服務龍頭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CSX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北美鐵路運輸公司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Sempra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3.45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北美能源基礎設施公司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Deere &amp; Company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3.29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農業與工程機械龍頭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Eaton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3.26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電力管理與工業設備龍頭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DE2AD21-6DDE-2DE6-C9FE-133FAE01CAF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EBD8D8E-7CDF-BEC5-D43A-C4EE2A6281BD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https://finance.yahoo.com/quote/PAVE/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B812002-8BEF-5641-8FE3-B59A99423064}"/>
              </a:ext>
            </a:extLst>
          </p:cNvPr>
          <p:cNvSpPr txBox="1"/>
          <p:nvPr/>
        </p:nvSpPr>
        <p:spPr>
          <a:xfrm>
            <a:off x="537220" y="1062248"/>
            <a:ext cx="3960001" cy="258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2017/03/06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 err="1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Indxx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U.S. Infrastructure Development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投資標的是受惠於美國基礎建設投資的企業，涵蓋原物料、重型設備、工程建設、運輸與工業服務等領域。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特色是可參與美國基建升級、製造業回流、電網投資、交通建設與工業現代化趨勢，適合作為美國基礎建設與工業循環主題配置工具。投資組合與美國景氣、政府基建支出及企業資本支出高度相關。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08A2B53-F077-255F-5CD3-D77695CBE609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352F0-3213-14D8-6766-C735FDE27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1989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A3FCA9A-FC5B-AE15-2F99-F86F97F5AFF4}"/>
              </a:ext>
            </a:extLst>
          </p:cNvPr>
          <p:cNvGraphicFramePr>
            <a:graphicFrameLocks/>
          </p:cNvGraphicFramePr>
          <p:nvPr/>
        </p:nvGraphicFramePr>
        <p:xfrm>
          <a:off x="4536847" y="1237266"/>
          <a:ext cx="41111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516413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EF0A-7200-7BAD-425A-E82D93B0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0FDF1D48-BF2E-7489-1794-76C9B7EF47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美國金瑞滬深中國網路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(KWEB.US)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86A026CF-6860-98CC-350A-68C671F8D0BE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51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10.08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Alibaba Group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8.93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PDD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8.78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電商平台與跨境零售龍頭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Meituan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7.35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中國生活服務平台龍頭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NetEase Inc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中國線上遊戲與內容平台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441C8C6-3AF4-3BC8-6A09-3CB90DBF4D06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43810AD-06AB-B076-0183-BB4E6F638D3C}"/>
              </a:ext>
            </a:extLst>
          </p:cNvPr>
          <p:cNvSpPr txBox="1"/>
          <p:nvPr/>
        </p:nvSpPr>
        <p:spPr>
          <a:xfrm>
            <a:off x="1475655" y="6538441"/>
            <a:ext cx="5720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https://finance.yahoo.com/quote/KWEB/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B03CE7-7802-0561-0C43-FD541761D67A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2013/07/31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CSI Overseas China Internet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投資標的是海外上市中國網路與平台經濟公司，涵蓋電商、線上遊戲、數位廣告、生活服務、金融科技及雲端平台等領域。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特色是集中布局中國互聯網龍頭與平台型企業，受惠於中國消費復甦、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應用、電商競爭格局改善及平台監管環境穩定化，適合作為中國科技與消費網路主題配置工具。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FA4E4C6-9CA7-A94F-5D45-E0B7ADD749DE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8B9F1-2579-FEEA-96BF-801A2A82F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0" y="4181546"/>
            <a:ext cx="3981477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1642926-E81A-7F77-3A26-39E75F8E950E}"/>
              </a:ext>
            </a:extLst>
          </p:cNvPr>
          <p:cNvGraphicFramePr>
            <a:graphicFrameLocks/>
          </p:cNvGraphicFramePr>
          <p:nvPr/>
        </p:nvGraphicFramePr>
        <p:xfrm>
          <a:off x="4497220" y="1237266"/>
          <a:ext cx="415076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48472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396C-D075-67BA-00F3-45E3885E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979801FF-EFCC-ADB4-CA36-EB2771FFB9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先鋒富時歐洲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(VGK.US)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791C1DB3-11A9-A96E-8FC2-90ACDBB6FBBF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 Holding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3.50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Novartis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AstraZeneca PLC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全球腫瘤與慢病製藥龍頭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HSBC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全球大型銀行集團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Roche Holdings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1.90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全球製藥與診斷龍頭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ABE6339-E79A-8422-CA7A-1B04894B4C38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2EB048D-3C33-266A-9F11-0608B6295208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https://finance.yahoo.com/quote/VGK/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C783C2-168E-3B65-E4B8-8A6FBD4AC62C}"/>
              </a:ext>
            </a:extLst>
          </p:cNvPr>
          <p:cNvSpPr txBox="1"/>
          <p:nvPr/>
        </p:nvSpPr>
        <p:spPr>
          <a:xfrm>
            <a:off x="537220" y="1062248"/>
            <a:ext cx="3960001" cy="258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2005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FTSE Developed Europe All Cap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投資標的是歐洲已開發市場大型、中型及小型股票，涵蓋英國、法國、瑞士、德國、荷蘭等主要歐洲市場。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特色是以低成本方式分散布局歐洲股市，費用率為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0.06%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，產業涵蓋金融、醫療保健、工業、消費及能源，適合作為美股以外的已開發市場配置工具。投資組合受歐洲景氣、歐元匯率、能源價格、利率政策及地緣政治影響。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46A9D18-0AEC-BAC5-E557-4CCBE6AA84F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8F4CF-094F-889E-027F-39CD4598F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2619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91DA375-9D4B-F1CB-3129-BF61AEAC609C}"/>
              </a:ext>
            </a:extLst>
          </p:cNvPr>
          <p:cNvGraphicFramePr>
            <a:graphicFrameLocks/>
          </p:cNvGraphicFramePr>
          <p:nvPr/>
        </p:nvGraphicFramePr>
        <p:xfrm>
          <a:off x="4388086" y="1215637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24093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A95D-977B-5771-973B-9B035B27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FC826ECC-1585-0CD1-C1B5-CA0F8516B0E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安碩核心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新興市場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(IEMG.US)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963C155B-6707-A231-9D81-84DF87B8721E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TSMC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11.49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全球晶圓代工龍頭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Samsung Electronics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記憶體與消費電子龍頭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SK Hynix Inc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2.44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記憶體半導體大廠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Alibaba Group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2.21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1AB7BD8-BFA9-632A-C044-5E1267FF849F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4DFE02A-E903-8D24-3838-67A94BED40C9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https://finance.yahoo.com/quote/IEMG/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A2C6B16-7EE5-A950-BC97-00B1FFA7D2EF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2012/10/18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Emerging Markets Investable Market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投資標的是全球新興市場大型、中型及小型股票，涵蓋台灣、印度、中國、韓國、巴西、沙烏地阿拉伯等市場。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特色是以低費用率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0.09%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分散布局新興市場，兼具科技製造、金融、消費、能源與原物料等產業曝險，適合作為全球股票配置中的新興市場核心部位。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6F2570B-22E8-2EC2-9021-A6BCEB9B1EA9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2028C-3CB2-098C-3093-9CC455632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94" y="4162619"/>
            <a:ext cx="3960000" cy="22320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6D3E688-60A5-DA35-C13D-AB257B7B7852}"/>
              </a:ext>
            </a:extLst>
          </p:cNvPr>
          <p:cNvGraphicFramePr>
            <a:graphicFrameLocks/>
          </p:cNvGraphicFramePr>
          <p:nvPr/>
        </p:nvGraphicFramePr>
        <p:xfrm>
          <a:off x="4497221" y="1219939"/>
          <a:ext cx="41507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635555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84D1-FC45-1740-6B2D-3373F56A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D102169A-65C3-B5FE-4F9E-0CBF4E71A3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安碩核心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EAFE 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(IEFA.US)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C8766FFB-827B-DBC9-F981-5C81C6A9AC20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67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ASML Holding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半導體微影設備龍頭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AstraZeneca PLC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11.05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全球腫瘤與慢病製藥龍頭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Novartis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10.57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全球創新製藥公司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HSBC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9.59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全球大型銀行集團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Roche Holdings AG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全球製藥與診斷龍頭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AC59FC15-A666-895E-7C55-17CAB359A88B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4458DA1-8905-FCF3-24B4-B400E0F92DB0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https://finance.yahoo.com/quote/IEFA/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1DAB889-AC33-8034-C995-F866C492349B}"/>
              </a:ext>
            </a:extLst>
          </p:cNvPr>
          <p:cNvSpPr txBox="1"/>
          <p:nvPr/>
        </p:nvSpPr>
        <p:spPr>
          <a:xfrm>
            <a:off x="537220" y="1062248"/>
            <a:ext cx="3960001" cy="20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2012/10/18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EAFE IMI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投資標的是美國與加拿大以外的已開發市場股票，涵蓋歐洲、澳洲及遠東地區大型、中型及小型企業。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特色是以低費用率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0.07%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廣泛布局國際已開發市場，提供日本、英國、法國、瑞士、德國及澳洲等市場曝險，適合作為美股以外的國際股票核心配置。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5B8997B-7598-9D94-2945-C1231BBC8C82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EE29C-7814-3108-EFF0-4AC84E63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81546"/>
            <a:ext cx="3960000" cy="22320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F78EDC6-B103-9937-43F5-BF3B9FB19154}"/>
              </a:ext>
            </a:extLst>
          </p:cNvPr>
          <p:cNvGraphicFramePr>
            <a:graphicFrameLocks/>
          </p:cNvGraphicFramePr>
          <p:nvPr/>
        </p:nvGraphicFramePr>
        <p:xfrm>
          <a:off x="4436965" y="1235415"/>
          <a:ext cx="42110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25645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2DF8-D380-0548-0684-5F309AAE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A0B377BA-8605-44ED-0FDA-11ECB8E473A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印度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(INDA.US)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C8F83B2-95EF-BA72-A36D-E707B91AEE12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326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HDFC Bank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6.92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印度大型民營銀行龍頭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Reliance Industries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6.65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印度能源與零售電信集團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ICICI Bank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5.30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印度大型民營銀行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Bharti Airtel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3.72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印度大型電信服務商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Infosys Limited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</a:t>
                      </a:r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服務與外包龍頭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932D16F-16F9-C115-181D-3CE15E6993CC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85BFBB7-2A9C-3EAB-5B45-026434D22A8C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https://finance.yahoo.com/quote/INDA/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42B2D1A-FF07-BE74-D5A0-F5BBA5278127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2012/02/02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India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投資標的是印度大型與中型股票，涵蓋金融、資訊科技、能源、消費及工業等產業，費用率為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0.61%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特色是可直接布局印度股市長期成長趨勢，受惠於人口紅利、製造業升級、數位化與內需消費擴張；但單一國家曝險較高，表現容易受匯率、政策、外資流向與印度股市估值影響。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AD5F71-30EE-4E8C-0223-E5082435E926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2F014-E547-6210-B128-3BEE03430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58287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E458B03-5654-1AA0-325E-435938AF0E15}"/>
              </a:ext>
            </a:extLst>
          </p:cNvPr>
          <p:cNvGraphicFramePr>
            <a:graphicFrameLocks/>
          </p:cNvGraphicFramePr>
          <p:nvPr/>
        </p:nvGraphicFramePr>
        <p:xfrm>
          <a:off x="4388086" y="1207914"/>
          <a:ext cx="425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621312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E10F-2855-5336-9B3F-36106D8B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30FC9B05-2F05-DA3E-D384-06FD5DB0FBD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中國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(MCHI.US)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6608F9AC-DA1D-CD73-849A-AE385AC09FCC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92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Tencent Holdings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15.13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中國社群娛樂與遊戲龍頭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Alibaba Group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中國電商與雲端服務龍頭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00939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3.94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中國建設銀行，大型國有銀行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PDD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2.78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電商平台與跨境零售龍頭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Xiaomi Corp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2.67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智慧手機與</a:t>
                      </a:r>
                      <a:r>
                        <a:rPr lang="en-GB" altLang="zh-TW" sz="12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AIoT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生態系龍頭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53AF1887-D215-8CE8-7AB1-C48297989272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3B2AF4-14B7-FE15-ABF5-156A1766EC75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https://finance.yahoo.com/quote/MCHI/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629B01-1872-E913-84D1-F931D12CBF25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2011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China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投資標的是中國大型與中型股票，涵蓋網路平台、金融、消費、通訊服務與科技等產業，費用率為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0.59%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特色是可一次布局中國核心大型企業，受惠於中國消費復甦、互聯網平台修復、政策支持與企業獲利改善；但波動較高，需留意中國宏觀景氣、政策監管、地緣政治及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ADR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相關風險。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7F2FA43-C7CE-0713-3B67-D03923D5CD6C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DA0E0-8BEB-4941-1B08-E04C06BEF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8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CC46855-D843-B732-6882-12A6F5E0B19A}"/>
              </a:ext>
            </a:extLst>
          </p:cNvPr>
          <p:cNvGraphicFramePr>
            <a:graphicFrameLocks/>
          </p:cNvGraphicFramePr>
          <p:nvPr/>
        </p:nvGraphicFramePr>
        <p:xfrm>
          <a:off x="4536847" y="1219939"/>
          <a:ext cx="41111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32424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9562-0110-9E14-55F1-BC186E71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2">
            <a:extLst>
              <a:ext uri="{FF2B5EF4-FFF2-40B4-BE49-F238E27FC236}">
                <a16:creationId xmlns:a16="http://schemas.microsoft.com/office/drawing/2014/main" id="{11355358-7EA3-0B11-2C72-4F8533C35C8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7918" y="290377"/>
            <a:ext cx="7806156" cy="64145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安碩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</a:t>
            </a:r>
            <a:r>
              <a:rPr lang="zh-TW" altLang="en-US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巴西</a:t>
            </a:r>
            <a:r>
              <a:rPr lang="en-GB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ETF</a:t>
            </a:r>
            <a:r>
              <a:rPr lang="en-US" altLang="zh-TW" sz="3000" b="1" dirty="0">
                <a:solidFill>
                  <a:srgbClr val="454546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(EWZ.US)</a:t>
            </a:r>
            <a:endParaRPr lang="zh-TW" altLang="en-US" sz="3000" dirty="0">
              <a:solidFill>
                <a:srgbClr val="454546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9" name="內容版面配置區 4">
            <a:extLst>
              <a:ext uri="{FF2B5EF4-FFF2-40B4-BE49-F238E27FC236}">
                <a16:creationId xmlns:a16="http://schemas.microsoft.com/office/drawing/2014/main" id="{78891941-D38C-A3D8-5C7D-9EEE39312541}"/>
              </a:ext>
            </a:extLst>
          </p:cNvPr>
          <p:cNvGraphicFramePr>
            <a:graphicFrameLocks/>
          </p:cNvGraphicFramePr>
          <p:nvPr/>
        </p:nvGraphicFramePr>
        <p:xfrm>
          <a:off x="4755915" y="3764289"/>
          <a:ext cx="3832715" cy="26409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8353">
                  <a:extLst>
                    <a:ext uri="{9D8B030D-6E8A-4147-A177-3AD203B41FA5}">
                      <a16:colId xmlns:a16="http://schemas.microsoft.com/office/drawing/2014/main" val="2368166128"/>
                    </a:ext>
                  </a:extLst>
                </a:gridCol>
                <a:gridCol w="775785">
                  <a:extLst>
                    <a:ext uri="{9D8B030D-6E8A-4147-A177-3AD203B41FA5}">
                      <a16:colId xmlns:a16="http://schemas.microsoft.com/office/drawing/2014/main" val="2081110912"/>
                    </a:ext>
                  </a:extLst>
                </a:gridCol>
                <a:gridCol w="1708577">
                  <a:extLst>
                    <a:ext uri="{9D8B030D-6E8A-4147-A177-3AD203B41FA5}">
                      <a16:colId xmlns:a16="http://schemas.microsoft.com/office/drawing/2014/main" val="3895424286"/>
                    </a:ext>
                  </a:extLst>
                </a:gridCol>
              </a:tblGrid>
              <a:tr h="3632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公司名稱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比重</a:t>
                      </a:r>
                      <a:r>
                        <a:rPr lang="en-US" altLang="zh-TW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(%)</a:t>
                      </a:r>
                      <a:endParaRPr lang="zh-TW" altLang="en-US" sz="1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4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簡介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8444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Vale S.A.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10.45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全球鐵礦砂與金屬礦業龍頭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29057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Nu Holdings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9.00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拉美數位銀行與金融科技龍頭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234429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ITUB4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8.40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巴西大型銀行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643834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PETR4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7.70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巴西國營能源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124306"/>
                  </a:ext>
                </a:extLst>
              </a:tr>
              <a:tr h="4530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Petroleo Brasileiro S.A.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7.05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巴西能源龍頭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240313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1FC0DB1-6245-8BAF-2355-6C8A94AA5E75}"/>
              </a:ext>
            </a:extLst>
          </p:cNvPr>
          <p:cNvSpPr/>
          <p:nvPr/>
        </p:nvSpPr>
        <p:spPr>
          <a:xfrm>
            <a:off x="4707036" y="1055743"/>
            <a:ext cx="3940950" cy="36304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產業分配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5BB9840-E5DC-21C6-158E-9E602F880B6E}"/>
              </a:ext>
            </a:extLst>
          </p:cNvPr>
          <p:cNvSpPr txBox="1"/>
          <p:nvPr/>
        </p:nvSpPr>
        <p:spPr>
          <a:xfrm>
            <a:off x="1475655" y="6538441"/>
            <a:ext cx="545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資料來源：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GB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hlinkClick r:id="rId2"/>
              </a:rPr>
              <a:t>https://finance.yahoo.com/quote/EWZ/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，持股截止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r>
              <a:rPr lang="zh-TW" altLang="en-US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，績效截至</a:t>
            </a:r>
            <a:r>
              <a:rPr lang="en-US" altLang="zh-TW" sz="10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2026/4/28</a:t>
            </a:r>
            <a:endParaRPr lang="zh-TW" altLang="en-US" sz="10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B62A72C-E82E-883B-608F-EBD8D5FA8F2F}"/>
              </a:ext>
            </a:extLst>
          </p:cNvPr>
          <p:cNvSpPr txBox="1"/>
          <p:nvPr/>
        </p:nvSpPr>
        <p:spPr>
          <a:xfrm>
            <a:off x="537220" y="1062248"/>
            <a:ext cx="3960001" cy="2342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成立於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2000/07/10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，主要追蹤</a:t>
            </a:r>
            <a:r>
              <a:rPr lang="en-GB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MSCI Brazil 25/50 Index</a:t>
            </a:r>
            <a:r>
              <a:rPr lang="zh-TW" altLang="en-GB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投資標的是巴西大型與中型股票，涵蓋金融、能源、原物料、公用事業及消費等產業，費用率為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0.59%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285750" indent="-285750">
              <a:lnSpc>
                <a:spcPts val="1900"/>
              </a:lnSpc>
              <a:spcBef>
                <a:spcPts val="30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特色是可布局巴西股市與大宗商品循環，受惠於資源出口、銀行獲利、能源與原物料價格上升；但單一新興市場波動高，表現容易受巴西貨幣、政治風險、利率政策及商品價格影響。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575030-05F5-F353-98CE-FF0687484560}"/>
              </a:ext>
            </a:extLst>
          </p:cNvPr>
          <p:cNvSpPr txBox="1"/>
          <p:nvPr/>
        </p:nvSpPr>
        <p:spPr>
          <a:xfrm>
            <a:off x="576847" y="3764288"/>
            <a:ext cx="39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近一年股價走勢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3E2D3-42A0-B5F0-BEAE-499FF4FAC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47" y="4169078"/>
            <a:ext cx="3960000" cy="2232000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B3E1B94-61C8-8B49-8C0C-B2C1D04374D1}"/>
              </a:ext>
            </a:extLst>
          </p:cNvPr>
          <p:cNvGraphicFramePr>
            <a:graphicFrameLocks/>
          </p:cNvGraphicFramePr>
          <p:nvPr/>
        </p:nvGraphicFramePr>
        <p:xfrm>
          <a:off x="4497221" y="1235415"/>
          <a:ext cx="415076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343503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18394</TotalTime>
  <Words>9507</Words>
  <Application>Microsoft Macintosh PowerPoint</Application>
  <PresentationFormat>On-screen Show (4:3)</PresentationFormat>
  <Paragraphs>1277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微軟正黑體</vt:lpstr>
      <vt:lpstr>Microsoft JhengHei UI</vt:lpstr>
      <vt:lpstr>Arial</vt:lpstr>
      <vt:lpstr>Calibri</vt:lpstr>
      <vt:lpstr>Wingdings</vt:lpstr>
      <vt:lpstr>1_Office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財富管理業務報告</dc:title>
  <dc:creator>劉鍏辰-財富管理部-產品理財規劃處</dc:creator>
  <cp:lastModifiedBy>陳衡穎 Aaron Chen</cp:lastModifiedBy>
  <cp:revision>1610</cp:revision>
  <cp:lastPrinted>2025-06-06T05:45:55Z</cp:lastPrinted>
  <dcterms:created xsi:type="dcterms:W3CDTF">2022-09-19T06:10:07Z</dcterms:created>
  <dcterms:modified xsi:type="dcterms:W3CDTF">2026-05-13T00:07:57Z</dcterms:modified>
</cp:coreProperties>
</file>